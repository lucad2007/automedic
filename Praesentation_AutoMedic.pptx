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3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77440" y="384048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2377440" y="1005840"/>
            <a:ext cx="6400800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3"/>
          <p:cNvSpPr/>
          <p:nvPr/>
        </p:nvSpPr>
        <p:spPr>
          <a:xfrm>
            <a:off x="2377440" y="111556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2B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Terminbuchungsplattform fuer Arztpraxen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377440" y="2157984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Fallstudie · Methoden der Wirtschaftsinformatik · 3. Semester · Oktober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· Lennart · Thilo · Helen · Luca (Scrum Master) · Niharini (KI-Manager)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Problem: Wie Terminbuchung heute aussieht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87552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E8F8F5"/>
          </a:solidFill>
          <a:ln w="15240">
            <a:solidFill>
              <a:srgbClr val="00B8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98755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" y="1042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Telefonischer Aufwand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" y="14904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Praxismitarbeiter verbringen Stunden mit Terminanrufen - fuer beide Seiten ineffizient.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987552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E8F8F5"/>
          </a:solidFill>
          <a:ln w="15240">
            <a:solidFill>
              <a:srgbClr val="00B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8755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4919472" y="1042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Wartezeiten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9472" y="14904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 erreichen die Praxis oft nicht oder muessen in Warteschleifen ausharren.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862072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E8F8F5"/>
          </a:solidFill>
          <a:ln w="15240">
            <a:solidFill>
              <a:srgbClr val="00B8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86207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" y="2916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Vergessene Termine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" y="33649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automatische Erinnerung entstehen Leerlaufzeiten und No-Shows.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2862072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E8F8F5"/>
          </a:solidFill>
          <a:ln w="15240">
            <a:solidFill>
              <a:srgbClr val="00B89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862072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20" name="Text 17"/>
          <p:cNvSpPr/>
          <p:nvPr/>
        </p:nvSpPr>
        <p:spPr>
          <a:xfrm>
            <a:off x="4919472" y="291693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Aenderungen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19472" y="336499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Verschiebungen und Absagen werden muehsam per Hand eingetragen - fehleranfaellig.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wir zum Thema kamen | Das AutoMedic-Team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Weg zur Idee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207008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Erfahrungen mit langen Wartezeiten und verpassten Terminen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Kickoff-Meeting 01.09.2026 - Brainstorming von 10 Kernprozessen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Fokus: Wo kann Software echten Alltags-Mehrwert schaffen?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Entscheidung: Arztpraxis als Domaene mit hohem Digitalisierungsbedarf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868680"/>
            <a:ext cx="36576" cy="3200400"/>
          </a:xfrm>
          <a:prstGeom prst="rect">
            <a:avLst/>
          </a:prstGeom>
          <a:solidFill>
            <a:srgbClr val="DCDDE1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2618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3167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784848" y="12618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76288" y="13167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Lennart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BPMN-Modellierung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21762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37760" y="22311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&amp; Use Cases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84848" y="21762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76288" y="22311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846320" y="30906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00B894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1455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84848" y="3090672"/>
            <a:ext cx="1783080" cy="768096"/>
          </a:xfrm>
          <a:prstGeom prst="roundRect">
            <a:avLst>
              <a:gd name="adj" fmla="val 11905"/>
            </a:avLst>
          </a:prstGeom>
          <a:solidFill>
            <a:srgbClr val="00B894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76288" y="3145536"/>
            <a:ext cx="1600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Niharini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KI-Manager</a:t>
            </a:r>
            <a:endParaRPr lang="en-US" sz="1100" dirty="0"/>
          </a:p>
        </p:txBody>
      </p:sp>
      <p:pic>
        <p:nvPicPr>
          <p:cNvPr id="22" name="Image 1" descr="/tmp/sandbox/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06240"/>
            <a:ext cx="685800" cy="685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78992" y="4343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AutoMedic: Die Digitale Terminbuchungsplattform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Patienten koennen: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207008"/>
            <a:ext cx="4114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suchen, buchen, verschieben &amp; absagen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Erinnerungen empfangen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einchecken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Rezepte &amp; Ueberweisungen digital verwalten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 suchen &amp; Medikamente reservieren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Videosprechstunde nutzen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868680"/>
            <a:ext cx="36576" cy="3200400"/>
          </a:xfrm>
          <a:prstGeom prst="rect">
            <a:avLst/>
          </a:prstGeom>
          <a:solidFill>
            <a:srgbClr val="DCDDE1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die Praxis kann: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207008"/>
            <a:ext cx="39319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Sprechzeiten &amp; Verfuegbarkeiten verwalten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einsehen und organisieren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Patienteninformationen pflegen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Patienten digital freischalten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Notfaelle priorisieren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Nachbereitung durchfuehren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4005072"/>
            <a:ext cx="8503920" cy="594360"/>
          </a:xfrm>
          <a:prstGeom prst="roundRect">
            <a:avLst>
              <a:gd name="adj" fmla="val 15385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059936"/>
            <a:ext cx="8321040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 uebernimmt automatisch: Terminverfuegbarkeit · Erinnerungen · Benachrichtigungen · Stornierungen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&amp; Zielkunden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6012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96012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48463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Arztpraxen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" y="14630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~93.000 niedergelassene Aerzte in Deutschland. Zunehmender Digitalisierungsdruck durch ePA &amp; Telematikinfrastruktur.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96012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6012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4919472" y="1014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919472" y="14630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 73 Mio. gesetzlich Versicherte - wachsende Erwartung an digitale Gesundheitsservices.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288036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88036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Markttrend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4632" y="33832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E-Health-Markt DE: &gt;6 Mrd. EUR (2023). Online-Terminbuchung waechst jaedrlich &gt;20%.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2880360"/>
            <a:ext cx="4206240" cy="1719072"/>
          </a:xfrm>
          <a:prstGeom prst="roundRect">
            <a:avLst>
              <a:gd name="adj" fmla="val 5319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2880360"/>
            <a:ext cx="4206240" cy="402336"/>
          </a:xfrm>
          <a:prstGeom prst="roundRect">
            <a:avLst>
              <a:gd name="adj" fmla="val 18182"/>
            </a:avLst>
          </a:prstGeom>
          <a:solidFill>
            <a:srgbClr val="00B894"/>
          </a:solidFill>
          <a:ln/>
        </p:spPr>
      </p:sp>
      <p:sp>
        <p:nvSpPr>
          <p:cNvPr id="20" name="Text 17"/>
          <p:cNvSpPr/>
          <p:nvPr/>
        </p:nvSpPr>
        <p:spPr>
          <a:xfrm>
            <a:off x="4919472" y="29352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Fokus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19472" y="338328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&amp; mittlere Praxen ohne eigene IT - hoher Automatisierungsbedarf, einfache Integration.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Geschaeftsmodell &amp; Wertschoepfungspotenziale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Geschaeftsmodell (SaaS)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207008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Monatliche Lizenz fuer Arztpraxen (SaaS)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Kostenlose AutoMedic-App fuer Patienten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Videosprechstunde, Analytics-Dashboard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Partnermodell: Apotheken-Integration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868680"/>
            <a:ext cx="36576" cy="3200400"/>
          </a:xfrm>
          <a:prstGeom prst="rect">
            <a:avLst/>
          </a:prstGeom>
          <a:solidFill>
            <a:srgbClr val="DCDDE1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Wertschoepfung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846320" y="1234440"/>
            <a:ext cx="1298448" cy="1965960"/>
          </a:xfrm>
          <a:prstGeom prst="roundRect">
            <a:avLst>
              <a:gd name="adj" fmla="val 7042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289304"/>
            <a:ext cx="1115568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Wartezeit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Dokumente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36208" y="1234440"/>
            <a:ext cx="1298448" cy="1965960"/>
          </a:xfrm>
          <a:prstGeom prst="roundRect">
            <a:avLst>
              <a:gd name="adj" fmla="val 7042"/>
            </a:avLst>
          </a:prstGeom>
          <a:solidFill>
            <a:srgbClr val="00B894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27648" y="1289304"/>
            <a:ext cx="1115568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weniger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Telefonanrufe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No-Shows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26096" y="1234440"/>
            <a:ext cx="1298448" cy="1965960"/>
          </a:xfrm>
          <a:prstGeom prst="roundRect">
            <a:avLst>
              <a:gd name="adj" fmla="val 7042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17536" y="1289304"/>
            <a:ext cx="1115568" cy="1856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Papierlos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Echtzeit-Daten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" y="321868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Automatisierungspotenziale: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0040" y="3547872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3602736"/>
            <a:ext cx="13898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Terminverfueg-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barkeitspruefung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039112" y="3547872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30552" y="3602736"/>
            <a:ext cx="13898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Erinnerungen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Bestaetigungen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758184" y="3547872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9624" y="3602736"/>
            <a:ext cx="13898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Absage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Slot-Freigabe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77256" y="3547872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68696" y="3602736"/>
            <a:ext cx="13898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digitalisierung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196328" y="3547872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2D3436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87768" y="3602736"/>
            <a:ext cx="13898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Ueberweisungs-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vermittlung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Abgrenzung: Was AutoMedic besonders macht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850392"/>
            <a:ext cx="2331720" cy="37490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7" name="Text 4"/>
          <p:cNvSpPr/>
          <p:nvPr/>
        </p:nvSpPr>
        <p:spPr>
          <a:xfrm>
            <a:off x="283464" y="905256"/>
            <a:ext cx="222199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850392"/>
            <a:ext cx="1371600" cy="37490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9" name="Text 6"/>
          <p:cNvSpPr/>
          <p:nvPr/>
        </p:nvSpPr>
        <p:spPr>
          <a:xfrm>
            <a:off x="2615184" y="905256"/>
            <a:ext cx="12618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Doctolib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850392"/>
            <a:ext cx="1371600" cy="37490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1" name="Text 8"/>
          <p:cNvSpPr/>
          <p:nvPr/>
        </p:nvSpPr>
        <p:spPr>
          <a:xfrm>
            <a:off x="3986784" y="905256"/>
            <a:ext cx="12618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ClickDoc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0" y="850392"/>
            <a:ext cx="1371600" cy="37490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3" name="Text 10"/>
          <p:cNvSpPr/>
          <p:nvPr/>
        </p:nvSpPr>
        <p:spPr>
          <a:xfrm>
            <a:off x="5358384" y="905256"/>
            <a:ext cx="1261872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Jameda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850392"/>
            <a:ext cx="1755648" cy="37490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2"/>
          <p:cNvSpPr/>
          <p:nvPr/>
        </p:nvSpPr>
        <p:spPr>
          <a:xfrm>
            <a:off x="6729984" y="905256"/>
            <a:ext cx="16459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8600" y="1225296"/>
            <a:ext cx="233172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3464" y="1271016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Online-Terminbuchung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0" y="1225296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15184" y="127101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931920" y="1225296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86784" y="127101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303520" y="1225296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58384" y="127101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675120" y="1225296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9984" y="1271016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28600" y="1600200"/>
            <a:ext cx="2331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3464" y="1645920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verschieben/absagen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560320" y="1600200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615184" y="164592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3931920" y="1600200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986784" y="164592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303520" y="1600200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58384" y="164592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6675120" y="1600200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29984" y="1645920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28600" y="1975104"/>
            <a:ext cx="233172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83464" y="2020824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Videosprechstunde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2560320" y="1975104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615184" y="202082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3931920" y="1975104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986784" y="202082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303520" y="1975104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58384" y="202082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675120" y="1975104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2020824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228600" y="2350008"/>
            <a:ext cx="2331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83464" y="2395728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Ueberweisungsvermittlung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2560320" y="2350008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615184" y="239572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3931920" y="2350008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986784" y="239572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5303520" y="2350008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358384" y="2395728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6675120" y="2350008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729984" y="2395728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228600" y="2724912"/>
            <a:ext cx="233172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83464" y="2770632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Apotheken-Integration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2560320" y="2724912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615184" y="277063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3931920" y="2724912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986784" y="277063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5303520" y="2724912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358384" y="2770632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4" name="Shape 61"/>
          <p:cNvSpPr/>
          <p:nvPr/>
        </p:nvSpPr>
        <p:spPr>
          <a:xfrm>
            <a:off x="6675120" y="2724912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729984" y="2770632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228600" y="3099816"/>
            <a:ext cx="2331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283464" y="3145536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Nachbereitung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2560320" y="3099816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615184" y="314553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3931920" y="3099816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986784" y="314553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2" name="Shape 69"/>
          <p:cNvSpPr/>
          <p:nvPr/>
        </p:nvSpPr>
        <p:spPr>
          <a:xfrm>
            <a:off x="5303520" y="3099816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358384" y="3145536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4" name="Shape 71"/>
          <p:cNvSpPr/>
          <p:nvPr/>
        </p:nvSpPr>
        <p:spPr>
          <a:xfrm>
            <a:off x="6675120" y="3099816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729984" y="3145536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228600" y="3474720"/>
            <a:ext cx="233172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283464" y="3520440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Notfallpatient-Prio.</a:t>
            </a:r>
            <a:endParaRPr lang="en-US" sz="1100" dirty="0"/>
          </a:p>
        </p:txBody>
      </p:sp>
      <p:sp>
        <p:nvSpPr>
          <p:cNvPr id="78" name="Shape 75"/>
          <p:cNvSpPr/>
          <p:nvPr/>
        </p:nvSpPr>
        <p:spPr>
          <a:xfrm>
            <a:off x="2560320" y="3474720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615184" y="352044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0" name="Shape 77"/>
          <p:cNvSpPr/>
          <p:nvPr/>
        </p:nvSpPr>
        <p:spPr>
          <a:xfrm>
            <a:off x="3931920" y="3474720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986784" y="352044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2" name="Shape 79"/>
          <p:cNvSpPr/>
          <p:nvPr/>
        </p:nvSpPr>
        <p:spPr>
          <a:xfrm>
            <a:off x="5303520" y="3474720"/>
            <a:ext cx="1371600" cy="374904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358384" y="3520440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4" name="Shape 81"/>
          <p:cNvSpPr/>
          <p:nvPr/>
        </p:nvSpPr>
        <p:spPr>
          <a:xfrm>
            <a:off x="6675120" y="3474720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729984" y="3520440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6" name="Shape 83"/>
          <p:cNvSpPr/>
          <p:nvPr/>
        </p:nvSpPr>
        <p:spPr>
          <a:xfrm>
            <a:off x="228600" y="3849624"/>
            <a:ext cx="233172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83464" y="3895344"/>
            <a:ext cx="2221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 / Fokus D-A-CH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2560320" y="3849624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615184" y="389534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0" name="Shape 87"/>
          <p:cNvSpPr/>
          <p:nvPr/>
        </p:nvSpPr>
        <p:spPr>
          <a:xfrm>
            <a:off x="3931920" y="3849624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3986784" y="389534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2" name="Shape 89"/>
          <p:cNvSpPr/>
          <p:nvPr/>
        </p:nvSpPr>
        <p:spPr>
          <a:xfrm>
            <a:off x="5303520" y="3849624"/>
            <a:ext cx="137160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358384" y="3895344"/>
            <a:ext cx="126187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4" name="Shape 91"/>
          <p:cNvSpPr/>
          <p:nvPr/>
        </p:nvSpPr>
        <p:spPr>
          <a:xfrm>
            <a:off x="6675120" y="3849624"/>
            <a:ext cx="1755648" cy="374904"/>
          </a:xfrm>
          <a:prstGeom prst="rect">
            <a:avLst/>
          </a:prstGeom>
          <a:solidFill>
            <a:srgbClr val="E0FB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6729984" y="3895344"/>
            <a:ext cx="16459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 in Aktion: User Stories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die Akteure AutoMedic erleben -- ein Ueberblick vor der Live-Demo: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1261872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Termin buchen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8249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online einen freien Termin finden und buchen, ohne anzurufen.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" y="2487168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Hausarzt  |  Ueberweisen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90779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Hausarzt moechte ich Patienten digital ueberweisen und einen Facharzttermin vermitteln lassen.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3712464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8039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Arzt  |  Post-Termin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13308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Arzt moechte ich Diagnose, Rezept und Folgetermin digital dokumentieren und zusenden.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1261872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Apotheke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168249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eine Apotheke mit meinem Medikament auf Lager finden und es reservieren.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2487168"/>
            <a:ext cx="4251960" cy="1097280"/>
          </a:xfrm>
          <a:prstGeom prst="roundRect">
            <a:avLst>
              <a:gd name="adj" fmla="val 6667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 |  Registrierung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290779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Patient moechte ich mich einmalig online registrieren und von der Praxis freischalten lassen.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Systemanalyse: 10 modellierte Geschaeftsprozesse (BPMN 2.0)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9326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932688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393192" y="10698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06070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suchen &amp; buchen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932688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932688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1069848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49240" y="106070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absagen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0040" y="17373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173736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186537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Terminbenachrichtigung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0" y="17373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1737360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20" name="Text 17"/>
          <p:cNvSpPr/>
          <p:nvPr/>
        </p:nvSpPr>
        <p:spPr>
          <a:xfrm>
            <a:off x="4828032" y="1874520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49240" y="186537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verschieben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0040" y="254203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" y="25420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24" name="Text 21"/>
          <p:cNvSpPr/>
          <p:nvPr/>
        </p:nvSpPr>
        <p:spPr>
          <a:xfrm>
            <a:off x="393192" y="267919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14400" y="26700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ueberweisen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2542032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754880" y="2542032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28" name="Text 25"/>
          <p:cNvSpPr/>
          <p:nvPr/>
        </p:nvSpPr>
        <p:spPr>
          <a:xfrm>
            <a:off x="4828032" y="2679192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349240" y="26700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beim Arzt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320040" y="334670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20040" y="334670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32" name="Text 29"/>
          <p:cNvSpPr/>
          <p:nvPr/>
        </p:nvSpPr>
        <p:spPr>
          <a:xfrm>
            <a:off x="393192" y="348386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14400" y="347472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Notfallpatient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54880" y="3346704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54880" y="3346704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36" name="Text 33"/>
          <p:cNvSpPr/>
          <p:nvPr/>
        </p:nvSpPr>
        <p:spPr>
          <a:xfrm>
            <a:off x="4828032" y="3483864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349240" y="347472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 suchen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20040" y="41513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0040" y="4151376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40" name="Text 37"/>
          <p:cNvSpPr/>
          <p:nvPr/>
        </p:nvSpPr>
        <p:spPr>
          <a:xfrm>
            <a:off x="393192" y="428853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14400" y="42793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(Arztsicht)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754880" y="4151376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E8F8F5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54880" y="4151376"/>
            <a:ext cx="502920" cy="658368"/>
          </a:xfrm>
          <a:prstGeom prst="roundRect">
            <a:avLst>
              <a:gd name="adj" fmla="val 14545"/>
            </a:avLst>
          </a:prstGeom>
          <a:solidFill>
            <a:srgbClr val="00B894"/>
          </a:solidFill>
          <a:ln/>
        </p:spPr>
      </p:sp>
      <p:sp>
        <p:nvSpPr>
          <p:cNvPr id="44" name="Text 41"/>
          <p:cNvSpPr/>
          <p:nvPr/>
        </p:nvSpPr>
        <p:spPr>
          <a:xfrm>
            <a:off x="4828032" y="4288536"/>
            <a:ext cx="347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349240" y="427939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Patientenregistrierung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Kollaborationsdiagramme · Pools &amp; Lanes · Datenobjekte · Datenspeicher · BPMN.io / Camunda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Systemanalyse: OO-Modellierung (UML)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" y="932688"/>
            <a:ext cx="2788920" cy="3950208"/>
          </a:xfrm>
          <a:prstGeom prst="roundRect">
            <a:avLst>
              <a:gd name="adj" fmla="val 3279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92608" y="932688"/>
            <a:ext cx="278892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Use-Case-Diagramm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591056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Use Cases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Akteure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Patient-Journey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Mitwirkung · include · extend · Vererbung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932688"/>
            <a:ext cx="2788920" cy="3950208"/>
          </a:xfrm>
          <a:prstGeom prst="roundRect">
            <a:avLst>
              <a:gd name="adj" fmla="val 3279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932688"/>
            <a:ext cx="278892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2" name="Text 9"/>
          <p:cNvSpPr/>
          <p:nvPr/>
        </p:nvSpPr>
        <p:spPr>
          <a:xfrm>
            <a:off x="3291840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Klassendiagramm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37560" y="1591056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Klassen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Steuerungsklasse + Repositories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Vererbung + 20 Assoziationen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Konsistent zu Sequenzdiagrammen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08192" y="932688"/>
            <a:ext cx="2788920" cy="3950208"/>
          </a:xfrm>
          <a:prstGeom prst="roundRect">
            <a:avLst>
              <a:gd name="adj" fmla="val 3279"/>
            </a:avLst>
          </a:prstGeom>
          <a:solidFill>
            <a:srgbClr val="E8F8F5"/>
          </a:solidFill>
          <a:ln w="19050">
            <a:solidFill>
              <a:srgbClr val="00B89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08192" y="932688"/>
            <a:ext cx="2788920" cy="50292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6" name="Text 13"/>
          <p:cNvSpPr/>
          <p:nvPr/>
        </p:nvSpPr>
        <p:spPr>
          <a:xfrm>
            <a:off x="6199632" y="10058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Sequenzdiagramme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45352" y="1591056"/>
            <a:ext cx="2514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buchen · Ueberweisen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Post-Termin · Apotheke · Registrierung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/ opt / par / loop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Hierarch. Nachrichten-Nummerierung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Werkzeuge: Visual Paradigm · draw.io · Camunda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1887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Ausblick</a:t>
            </a:r>
            <a:endParaRPr lang="en-US" sz="1900" dirty="0"/>
          </a:p>
        </p:txBody>
      </p:sp>
      <p:pic>
        <p:nvPicPr>
          <p:cNvPr id="5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7315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erreicht haben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1207008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BPMN-Kollaborationsdiagramme modelliert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Vollstaendige UML-Modellierung (Use Case, 18 Klassen, 5 Sequenzdiagramme)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Diagramme syntaxkonform und konsistent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 als klares Produkt mit Markt und Geschaeftsmodell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720" y="868680"/>
            <a:ext cx="36576" cy="3200400"/>
          </a:xfrm>
          <a:prstGeom prst="rect">
            <a:avLst/>
          </a:prstGeom>
          <a:solidFill>
            <a:srgbClr val="DCDDE1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207008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Prototyp-Entwicklung auf Basis der Analyse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mit Praxisverwaltungssystemen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KI-gestuetzte Terminoptimierung</a:t>
            </a:r>
            <a:endParaRPr lang="en-US" sz="1300" dirty="0"/>
          </a:p>
          <a:p>
            <a:pPr>
              <a:spcAft>
                <a:spcPts val="500"/>
              </a:spcAft>
            </a:pPr>
            <a:r>
              <a:rPr lang="en-US" sz="13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Pilotprojekt mit einer echten Arztpraxis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3383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gelernt haben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3712464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Methoden-gestuetzte Systemanalyse schafft Klarheit und verhindert Missverstaendnisse im Team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und UML sind ideale Werkzeuge, um Anforderungen praezise zu dokumentieren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59152"/>
            <a:ext cx="9144000" cy="64008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3" name="Image 0" descr="/tmp/sandbox/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22860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4871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fuer Ihre Aufmerksamkeit!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AutoMedic · Digitale Terminbuchungsplattform fuer Arztpraxen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· Lennart · Thilo · Helen · Luca · Niharini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4590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BPMN: 10 Kollaborationsdiagramme (Camunda)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4919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UML: Use Case · Klassendiagramm · 5 Sequenzdiagramme (Visual Paradigm)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71600" y="524865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Dokumentation: Projekt-&lt;KURS&gt;-&lt;GRUPPE&gt;.pdf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2026-10-23T08:21:11Z</dcterms:created>
  <dcterms:modified xsi:type="dcterms:W3CDTF">2026-10-23T08:21:11Z</dcterms:modified>
</cp:coreProperties>
</file>