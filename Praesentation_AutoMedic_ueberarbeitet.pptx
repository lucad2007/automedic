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921c29ac-07d5-9ec7-b328-89d9c294b7c5}">
          <p14:sldIdLst>
            <p14:sldId id="256"/>
            <p14:sldId id="257"/>
          </p14:sldIdLst>
        </p14:section>
        <p14:section name="Problem &amp; Idee" id="{7509bd78-4c81-ad30-8ce9-9ca0b7540a08}">
          <p14:sldIdLst>
            <p14:sldId id="258"/>
            <p14:sldId id="259"/>
          </p14:sldIdLst>
        </p14:section>
        <p14:section name="Unsere Lösung" id="{c8399b44-d844-1a82-69b7-1c270f24d18d}">
          <p14:sldIdLst>
            <p14:sldId id="260"/>
          </p14:sldIdLst>
        </p14:section>
        <p14:section name="Markt &amp; Geschäftsmodell" id="{c68fdac8-5ad0-c0ce-b72a-82cacad2b91b}">
          <p14:sldIdLst>
            <p14:sldId id="261"/>
            <p14:sldId id="262"/>
          </p14:sldIdLst>
        </p14:section>
        <p14:section name="Abgrenzung" id="{05ab3e9f-3b57-8a93-5f29-fd11f4574a45}">
          <p14:sldIdLst>
            <p14:sldId id="263"/>
          </p14:sldIdLst>
        </p14:section>
        <p14:section name="User Stories &amp; Demo" id="{e96c9c21-b545-d1ff-2f01-457a1316825b}">
          <p14:sldIdLst>
            <p14:sldId id="264"/>
            <p14:sldId id="265"/>
            <p14:sldId id="266"/>
            <p14:sldId id="267"/>
            <p14:sldId id="268"/>
            <p14:sldId id="269"/>
          </p14:sldIdLst>
        </p14:section>
        <p14:section name="Systemanalyse" id="{593a7ad8-e785-4695-0a0c-90bf1ecd3d28}">
          <p14:sldIdLst>
            <p14:sldId id="270"/>
            <p14:sldId id="271"/>
          </p14:sldIdLst>
        </p14:section>
        <p14:section name="Fazit &amp; Ausblick" id="{efa9875a-b85a-7fc8-fc75-593808a46c67}">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und kurze Vorstellung des Teams: Fabian, Lennart, Thilo, Helen, Luca und Niharini.
AutoMedic ist eine digitale Terminbuchungsplattform für Arztpraxen – entstanden in der Fallstudie im Modul Methoden der Wirtschaftsinformatik (3.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Kurzer Überblick über den Ablauf (ca. 1 Satz pro Punkt):
1. Problem &amp; Idee – warum Terminbuchung heute nervt und wie wir zum Thema kamen.
2. Unsere Lösung – was AutoMedic für Patienten und Praxen leistet.
3. Markt &amp; Geschäftsmodell – Zielgruppen, Marktgröße, SaaS-Modell.
4. Abgrenzung – Vergleich mit Doctolib, ClickDoc und Jameda.
5. User Stories – Schwerpunkt: fünf Stories, die wir live simulieren.
6. Systemanalyse – BPMN- und UML-Modelle.
7. Fazit &amp; Ausblick.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Telefonischer Aufwand: Praxismitarbeiter verbringen Stunden mit Terminanrufen – für beide Seiten ineffizient.
• Wartezeiten: Patienten erreichen die Praxis oft nicht oder müssen in Warteschleifen ausharren.
• Vergessene Termine: Ohne automatische Erinnerung entstehen Leerlaufzeiten und No-Shows.
• Manuelle Änderungen: Verschiebungen und Absagen werden mühsam per Hand eingetragen – fehleranfällig.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 Weg zur Idee:
• Eigene Erfahrungen mit langen Wartezeiten und verpassten Arztterminen.
• Kickoff-Meeting am 01.09.2026: Brainstorming von 10 Kernprozessen.
• Leitfrage: Wo kann Software echten Mehrwert im Alltag schaffen?
• Entscheidung: Arztpraxis als Domäne mit hohem Digitalisierungsbedarf.
Team: Fabian, Lennart, Thilo, Helen, Luca, Niharini.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Patienten können: Termine suchen, buchen, verschieben &amp; absagen; automatische Erinnerungen empfangen; digital einchecken; Rezepte &amp; Überweisungen digital verwalten; Apotheken suchen &amp; Medikamente reservieren; Videosprechstunde nutzen.
Was die Praxis kann: Sprechzeiten &amp; Verfügbarkeiten verwalten; Termine einsehen und organisieren; Patienteninformationen pflegen; neue Patienten digital freischalten; Notfälle priorisieren; Post-Termin-Nachbereitung durchführen.
AutoMedic übernimmt automatisch: Terminverfügbarkeit, Erinnerungen, Benachrichtigungen und Stornierungen.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Arztpraxen: ca. 93.000 niedergelassene Ärzte in Deutschland; zunehmender Digitalisierungsdruck durch ePA &amp; Telematikinfrastruktur.
• Patienten: über 73 Mio. gesetzlich Versicherte – wachsende Erwartung an digitale Gesundheitsservices.
• Markttrend: E-Health-Markt in Deutschland &gt; 6 Mrd. EUR (2023); Online-Terminbuchung wächst jährlich um mehr als 20 %.
• Unser Fokus: kleine &amp; mittlere Praxen ohne eigene IT – hoher Automatisierungsbedarf, einfache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Geschäftsmodell (SaaS):
• Monatliche Lizenz für Arztpraxen
• Kostenlose AutoMedic-App für Patienten
• Premium: Videosprechstunde, Analytics-Dashboard
• Partnermodell: Apotheken-Integration
Wertschöpfung:
• Patient: weniger Wartezeit, digitale Dokumente, Transparenz
• Praxis: ca. 30 % weniger Telefonanrufe, weniger No-Shows
• System: Automatisierung, papierlos, Echtzeit-Daten
Automatisierungspotenziale: Terminverfügbarkeitsprüfung · Erinnerungen &amp; Bestätigungen · Absage &amp; Slot-Freigabe · Rezeptdigitalisierung · Überweisungsvermittlung.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Online-Terminbuchung und DSGVO-Konformität bieten alle Wettbewerber – das ist Standard.
Unsere Alleinstellungsmerkmale (fett): Überweisungsvermittlung zwischen Haus- und Facharzt, Apotheken-Integration (Verfügbarkeit &amp; Reservierung), vollständige Post-Termin-Nachbereitung (Diagnose, Rezept, Folgetermin) und die Priorisierung von Notfallpatienten.
Doctolib bietet Post-Termin-Funktionen nur teilweise; Jameda unterstützt Verschieben/Absagen nur eingeschränkt.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vor der Live-Demo: Wir zeigen, wie die Akteure AutoMedic erleben.
1. Patient – Termin buchen
2. Hausarzt – Patient überweisen
3. Arzt – Post-Termin (Diagnose, Rezept, Folgetermin)
4. Patient – Apotheke suchen &amp; Medikament reservieren
5. Patient – Registrierung &amp; Freischaltung durch die Praxis
Zu jeder Story gibt es eine eigene Folie mit den Ablaufschritten, die während der Simulation eingeblendet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01 – Termin suchen &amp; buchen):
Als Patient möchte ich online nach einem freien Arzttermin suchen und ihn direkt buchen können, sodass ich keine Zeit am Telefon verliere und meinen Termingrund vorab mitteilen kann.
Akzeptanzkriterien:
• Ich kann Fachrichtung und Arzt auswählen
• Das System zeigt mir verfügbare Zeitslots an
• Ich kann einen Slot auswählen und einen Termingrund eingeben
• Ich erhalte eine Buchungsbestätigung
• Die Arztpraxis wird automatisch benachrichtigt
Demo-Hinweis: Während der Simulation die Schritte 1–5 der Reihe nach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05 – Patient überweisen):
Als Hausarzt möchte ich einen Patienten digital an einen Facharzt überweisen und dabei direkt einen passenden Termin vermitteln lassen, damit der Patient nahtlos weiterversorgt wird und ich eine Statusrückmeldung über die erfolgreiche Vermittlung erhalte.
Akzeptanzkriterien:
• Ich kann Diagnose und Fachrichtung im System erfassen
• Das System sucht automatisch passende Fachärzte im Umkreis
• Der Patient erhält Terminvorschläge und kann auswählen
• Der Facharzt wird über die Überweisung und den gebuchten Termin informiert
• Ich erhalte eine Statusrückmeldung nach abgeschlossener Vermittlung
Demo-Hinweis: Während der Simulation die Schritte 1–5 der Reihe nach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09 – Post-Termin / Behandlung &amp; Rezept):
Als Arzt möchte ich nach einer Behandlung die Diagnose dokumentieren, ein Rezept digital ausstellen und freigeben sowie einen Folgetermin anordnen können, damit der Patient alle Informationen sofort digital erhält und die Patientenakte aktuell bleibt.
Akzeptanzkriterien:
• Ich kann Diagnose und Maßnahmen im System erfassen
• Die Patientenakte wird automatisch aktualisiert
• Ich kann ein Rezept digital signieren und freigeben
• Der Patient erhält das Rezept digital (optional: Weiterleitung an Apotheke)
• Ich kann einen Folgetermin anordnen; der Patient erhält Terminvorschläge
• Der Patient erhält eine Zusammenfassung der Konsultation
Demo-Hinweis: Während der Simulation die Schritte 1–5 der Reihe nach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08 – Apotheke suchen):
Als Patient möchte ich nach meinem Arzttermin in der App eine Apotheke in meiner Nähe finden, die mein Medikament auf Lager hat, und es bei Bedarf direkt reservieren können, damit ich keine unnötigen Wege mache.
Akzeptanzkriterien:
• Ich kann Standort und Suchkriterien (Medikament) eingeben
• Das System zeigt mir Apotheken im Umkreis mit Verfügbarkeitsangabe an
• Ich kann eine Apotheke auswählen und Details (Adresse, Öffnungszeiten) einsehen
• Ich kann ein Medikament optional reservieren und erhalte eine Bestätigung
• Wenn keine Apotheke gefunden wird, erhalte ich einen entsprechenden Hinweis
Demo-Hinweis: Während der Simulation die Schritte 1–5 der Reihe nach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Story (SD 10 – Patientenregistrierung):
Als Patient möchte ich mich einmalig online auf der Plattform registrieren und meine Versicherungsdaten hinterlegen, damit mir die Arztpraxis nach einer kurzen Prüfung den Zugang freischaltet und ich anschließend alle Dienste nutzen kann.
Akzeptanzkriterien:
• Ich kann ein Konto mit Stammdaten und Versicherungsinformationen anlegen
• Ich verifiziere meine E-Mail-Adresse per Link
• Die Arztpraxis prüft meine Daten und erteilt die Freigabe
• Bei ungültigen Daten erhalte ich einen Hinweis und kann korrigieren
• Nach Freigabe erhalte ich eine Willkommensnachricht und Zugang zur Plattform
Demo-Hinweis: Während der Simulation die Schritte 1–5 der Reihe nach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10 Kernprozesse als BPMN-2.0-Kollaborationsdiagramme modelliert.
Verwendete Elemente: Pools &amp; Lanes, Datenobjekte, Datenspeicher.
Werkzeuge: bpmn.io / Camunda.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Use-Case-Diagramm: 12 Use Cases, 5 Akteure, bildet die Patient-Journey ab; Beziehungen: Mitwirkung, include, extend, Vererbung.
Klassendiagramm: 18 Klassen, Steuerungsklasse + Repositories, Vererbung und 20 Assoziationen; konsistent zu den Sequenzdiagrammen.
5 Sequenzdiagramme: Termin buchen, Überweisen, Post-Termin, Apotheke, Registrierung – also genau die fünf User Stories aus der Demo. Verwendete Fragmente: alt / opt / par / loop; hierarchische Nachrichten-Nummerierung.
Werkzeuge: Visual Paradigm, draw.io, Camunda.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wir erreicht haben:
• 10 BPMN-Kollaborationsdiagramme modelliert
• Vollständige UML-Modellierung (Use Case, 18 Klassen, 5 Sequenzdiagramme)
• Alle Diagramme syntaxkonform und konsistent
• AutoMedic als klares Produkt mit Markt und Geschäftsmodell
Ausblick:
• Prototyp-Entwicklung auf Basis der Analyse
• Integration mit Praxisverwaltungssystemen
• KI-gestützte Terminoptimierung
• Pilotprojekt mit einer echten Arztpraxis
Was wir gelernt haben:
• Methodengestützte Systemanalyse schafft Klarheit und verhindert Missverständnisse im Team.
• BPMN und UML sind ideale Werkzeuge, um Anforderungen präzise zu dokumentieren.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 an das Publikum, Überleitung zu Fragen &amp; Diskussion.
Falls nach Artefakten gefragt wird:
• BPMN: 10 Kollaborationsdiagramme (Camunda)
• UML: Use Case, Klassendiagramm, 5 Sequenzdiagramme (Visual Paradigm)
• Ausführliche Dokumentation: Projektdokumentation AutoMedic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ivate/tmp/claude-501/-Users-helenstark-Documents-Lernzettel-WebProgrammierung/d4309317-c575-44fe-a25d-9aac008a91a2/scratchpad/un/ppt/media/image-1-1.png">    </p:cNvPr>
          <p:cNvPicPr>
            <a:picLocks noChangeAspect="1"/>
          </p:cNvPicPr>
          <p:nvPr/>
        </p:nvPicPr>
        <p:blipFill>
          <a:blip r:embed="rId1"/>
          <a:stretch>
            <a:fillRect/>
          </a:stretch>
        </p:blipFill>
        <p:spPr>
          <a:xfrm>
            <a:off x="11002975" y="320040"/>
            <a:ext cx="640080" cy="640080"/>
          </a:xfrm>
          <a:prstGeom prst="rect">
            <a:avLst/>
          </a:prstGeom>
        </p:spPr>
      </p:pic>
      <p:sp>
        <p:nvSpPr>
          <p:cNvPr id="3" name="Text 0"/>
          <p:cNvSpPr/>
          <p:nvPr>
            <p:ph idx="101" type="body" hasCustomPrompt="1"/>
          </p:nvPr>
        </p:nvSpPr>
        <p:spPr>
          <a:xfrm>
            <a:off x="548640" y="365760"/>
            <a:ext cx="91440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4" name="Text 0"/>
          <p:cNvSpPr/>
          <p:nvPr>
            <p:ph idx="102" type="title" hasCustomPrompt="1"/>
          </p:nvPr>
        </p:nvSpPr>
        <p:spPr>
          <a:xfrm>
            <a:off x="548640" y="713232"/>
            <a:ext cx="987552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600200"/>
            <a:ext cx="2377440" cy="2377440"/>
          </a:xfrm>
          <a:prstGeom prst="roundRect">
            <a:avLst>
              <a:gd name="adj" fmla="val 7692"/>
            </a:avLst>
          </a:prstGeom>
          <a:solidFill>
            <a:schemeClr val="bg1"/>
          </a:solidFill>
          <a:ln w="12700">
            <a:solidFill>
              <a:schemeClr val="bg1"/>
            </a:solidFill>
            <a:prstDash val="solid"/>
          </a:ln>
        </p:spPr>
      </p:sp>
      <p:pic>
        <p:nvPicPr>
          <p:cNvPr id="3" name="Image 0" descr="/private/tmp/claude-501/-Users-helenstark-Documents-Lernzettel-WebProgrammierung/d4309317-c575-44fe-a25d-9aac008a91a2/scratchpad/un/ppt/media/image-1-1.png">    </p:cNvPr>
          <p:cNvPicPr>
            <a:picLocks noChangeAspect="1"/>
          </p:cNvPicPr>
          <p:nvPr/>
        </p:nvPicPr>
        <p:blipFill>
          <a:blip r:embed="rId1"/>
          <a:stretch>
            <a:fillRect/>
          </a:stretch>
        </p:blipFill>
        <p:spPr>
          <a:xfrm>
            <a:off x="822960" y="1691640"/>
            <a:ext cx="2194560" cy="2194560"/>
          </a:xfrm>
          <a:prstGeom prst="rect">
            <a:avLst/>
          </a:prstGeom>
        </p:spPr>
      </p:pic>
      <p:sp>
        <p:nvSpPr>
          <p:cNvPr id="4" name="Text 1"/>
          <p:cNvSpPr txBox="1"/>
          <p:nvPr/>
        </p:nvSpPr>
        <p:spPr>
          <a:xfrm>
            <a:off x="3566160" y="1600200"/>
            <a:ext cx="7772400" cy="1005840"/>
          </a:xfrm>
          <a:prstGeom prst="rect">
            <a:avLst/>
          </a:prstGeom>
          <a:noFill/>
          <a:ln/>
        </p:spPr>
        <p:txBody>
          <a:bodyPr wrap="square" lIns="0" tIns="0" rIns="0" bIns="0" rtlCol="0" anchor="ctr"/>
          <a:lstStyle/>
          <a:p>
            <a:pPr indent="0" marL="0">
              <a:buNone/>
            </a:pPr>
            <a:r>
              <a:rPr lang="en-US" sz="6000" b="1" dirty="0">
                <a:solidFill>
                  <a:schemeClr val="bg1"/>
                </a:solidFill>
              </a:rPr>
              <a:t>AutoMedic</a:t>
            </a:r>
            <a:endParaRPr lang="en-US" sz="6000" dirty="0"/>
          </a:p>
        </p:txBody>
      </p:sp>
      <p:sp>
        <p:nvSpPr>
          <p:cNvPr id="5" name="Text 2"/>
          <p:cNvSpPr txBox="1"/>
          <p:nvPr/>
        </p:nvSpPr>
        <p:spPr>
          <a:xfrm>
            <a:off x="3566160" y="2651760"/>
            <a:ext cx="7772400" cy="548640"/>
          </a:xfrm>
          <a:prstGeom prst="rect">
            <a:avLst/>
          </a:prstGeom>
          <a:noFill/>
          <a:ln/>
        </p:spPr>
        <p:txBody>
          <a:bodyPr wrap="square" lIns="0" tIns="0" rIns="0" bIns="0" rtlCol="0" anchor="ctr"/>
          <a:lstStyle/>
          <a:p>
            <a:pPr indent="0" marL="0">
              <a:buNone/>
            </a:pPr>
            <a:r>
              <a:rPr lang="en-US" sz="2600" dirty="0">
                <a:solidFill>
                  <a:schemeClr val="accent1"/>
                </a:solidFill>
              </a:rPr>
              <a:t>Digitale Terminbuchungsplattform für Arztpraxen</a:t>
            </a:r>
            <a:endParaRPr lang="en-US" sz="2600" dirty="0"/>
          </a:p>
        </p:txBody>
      </p:sp>
      <p:sp>
        <p:nvSpPr>
          <p:cNvPr id="6" name="Text 3"/>
          <p:cNvSpPr txBox="1"/>
          <p:nvPr/>
        </p:nvSpPr>
        <p:spPr>
          <a:xfrm>
            <a:off x="3566160" y="3291840"/>
            <a:ext cx="7772400" cy="411480"/>
          </a:xfrm>
          <a:prstGeom prst="rect">
            <a:avLst/>
          </a:prstGeom>
          <a:noFill/>
          <a:ln/>
        </p:spPr>
        <p:txBody>
          <a:bodyPr wrap="square" lIns="0" tIns="0" rIns="0" bIns="0" rtlCol="0" anchor="ctr"/>
          <a:lstStyle/>
          <a:p>
            <a:pPr indent="0" marL="0">
              <a:buNone/>
            </a:pPr>
            <a:r>
              <a:rPr lang="en-US" sz="1600" dirty="0">
                <a:solidFill>
                  <a:srgbClr val="B2BEC3"/>
                </a:solidFill>
              </a:rPr>
              <a:t>Fallstudie · Methoden der Wirtschaftsinformatik · 3. Semester · Oktober 2026</a:t>
            </a:r>
            <a:endParaRPr lang="en-US" sz="1600" dirty="0"/>
          </a:p>
        </p:txBody>
      </p:sp>
      <p:sp>
        <p:nvSpPr>
          <p:cNvPr id="7" name="Text 4"/>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800" dirty="0">
                <a:solidFill>
                  <a:schemeClr val="bg1"/>
                </a:solidFill>
              </a:rPr>
              <a:t>Fabian · Lennart · Thilo · Helen · Luca · Niharini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Roadmap</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Was wir heute besprechen</a:t>
            </a:r>
            <a:endParaRPr lang="en-US" sz="3400" dirty="0"/>
          </a:p>
        </p:txBody>
      </p:sp>
      <p:sp>
        <p:nvSpPr>
          <p:cNvPr id="4" name="Shape 2"/>
          <p:cNvSpPr/>
          <p:nvPr/>
        </p:nvSpPr>
        <p:spPr>
          <a:xfrm>
            <a:off x="822960" y="3200400"/>
            <a:ext cx="10545775" cy="0"/>
          </a:xfrm>
          <a:prstGeom prst="line">
            <a:avLst/>
          </a:prstGeom>
          <a:noFill/>
          <a:ln w="38100">
            <a:solidFill>
              <a:schemeClr val="accent5"/>
            </a:solidFill>
            <a:prstDash val="solid"/>
          </a:ln>
        </p:spPr>
      </p:sp>
      <p:sp>
        <p:nvSpPr>
          <p:cNvPr id="5" name="Shape 3"/>
          <p:cNvSpPr/>
          <p:nvPr/>
        </p:nvSpPr>
        <p:spPr>
          <a:xfrm>
            <a:off x="411480" y="2788920"/>
            <a:ext cx="822960" cy="82296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633679" y="3011119"/>
            <a:ext cx="378562" cy="378562"/>
          </a:xfrm>
          <a:prstGeom prst="rect">
            <a:avLst/>
          </a:prstGeom>
        </p:spPr>
      </p:pic>
      <p:sp>
        <p:nvSpPr>
          <p:cNvPr id="7" name="Text 4"/>
          <p:cNvSpPr txBox="1"/>
          <p:nvPr/>
        </p:nvSpPr>
        <p:spPr>
          <a:xfrm>
            <a:off x="91440" y="205740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01</a:t>
            </a:r>
            <a:endParaRPr lang="en-US" sz="1600" dirty="0"/>
          </a:p>
        </p:txBody>
      </p:sp>
      <p:sp>
        <p:nvSpPr>
          <p:cNvPr id="8" name="Text 5"/>
          <p:cNvSpPr txBox="1"/>
          <p:nvPr/>
        </p:nvSpPr>
        <p:spPr>
          <a:xfrm>
            <a:off x="45720" y="3794760"/>
            <a:ext cx="1554480" cy="731520"/>
          </a:xfrm>
          <a:prstGeom prst="rect">
            <a:avLst/>
          </a:prstGeom>
          <a:noFill/>
          <a:ln/>
        </p:spPr>
        <p:txBody>
          <a:bodyPr wrap="square" lIns="0" tIns="0" rIns="0" bIns="0" rtlCol="0" anchor="t"/>
          <a:lstStyle/>
          <a:p>
            <a:pPr algn="ctr" indent="0" marL="0">
              <a:buNone/>
            </a:pPr>
            <a:r>
              <a:rPr lang="en-US" sz="1500" dirty="0">
                <a:solidFill>
                  <a:schemeClr val="tx1"/>
                </a:solidFill>
              </a:rPr>
              <a:t>Problem &amp; Idee</a:t>
            </a:r>
            <a:endParaRPr lang="en-US" sz="1500" dirty="0"/>
          </a:p>
        </p:txBody>
      </p:sp>
      <p:sp>
        <p:nvSpPr>
          <p:cNvPr id="9" name="Shape 6"/>
          <p:cNvSpPr/>
          <p:nvPr/>
        </p:nvSpPr>
        <p:spPr>
          <a:xfrm>
            <a:off x="2169109" y="2788920"/>
            <a:ext cx="822960" cy="82296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2391308" y="3011119"/>
            <a:ext cx="378562" cy="378562"/>
          </a:xfrm>
          <a:prstGeom prst="rect">
            <a:avLst/>
          </a:prstGeom>
        </p:spPr>
      </p:pic>
      <p:sp>
        <p:nvSpPr>
          <p:cNvPr id="11" name="Text 7"/>
          <p:cNvSpPr txBox="1"/>
          <p:nvPr/>
        </p:nvSpPr>
        <p:spPr>
          <a:xfrm>
            <a:off x="1849069" y="205740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02</a:t>
            </a:r>
            <a:endParaRPr lang="en-US" sz="1600" dirty="0"/>
          </a:p>
        </p:txBody>
      </p:sp>
      <p:sp>
        <p:nvSpPr>
          <p:cNvPr id="12" name="Text 8"/>
          <p:cNvSpPr txBox="1"/>
          <p:nvPr/>
        </p:nvSpPr>
        <p:spPr>
          <a:xfrm>
            <a:off x="1803349" y="3794760"/>
            <a:ext cx="1554480" cy="731520"/>
          </a:xfrm>
          <a:prstGeom prst="rect">
            <a:avLst/>
          </a:prstGeom>
          <a:noFill/>
          <a:ln/>
        </p:spPr>
        <p:txBody>
          <a:bodyPr wrap="square" lIns="0" tIns="0" rIns="0" bIns="0" rtlCol="0" anchor="t"/>
          <a:lstStyle/>
          <a:p>
            <a:pPr algn="ctr" indent="0" marL="0">
              <a:buNone/>
            </a:pPr>
            <a:r>
              <a:rPr lang="en-US" sz="1500" dirty="0">
                <a:solidFill>
                  <a:schemeClr val="tx1"/>
                </a:solidFill>
              </a:rPr>
              <a:t>Unsere Lösung</a:t>
            </a:r>
            <a:endParaRPr lang="en-US" sz="1500" dirty="0"/>
          </a:p>
        </p:txBody>
      </p:sp>
      <p:sp>
        <p:nvSpPr>
          <p:cNvPr id="13" name="Shape 9"/>
          <p:cNvSpPr/>
          <p:nvPr/>
        </p:nvSpPr>
        <p:spPr>
          <a:xfrm>
            <a:off x="3926738" y="2788920"/>
            <a:ext cx="822960" cy="82296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4148938" y="3011119"/>
            <a:ext cx="378562" cy="378562"/>
          </a:xfrm>
          <a:prstGeom prst="rect">
            <a:avLst/>
          </a:prstGeom>
        </p:spPr>
      </p:pic>
      <p:sp>
        <p:nvSpPr>
          <p:cNvPr id="15" name="Text 10"/>
          <p:cNvSpPr txBox="1"/>
          <p:nvPr/>
        </p:nvSpPr>
        <p:spPr>
          <a:xfrm>
            <a:off x="3606698" y="205740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03</a:t>
            </a:r>
            <a:endParaRPr lang="en-US" sz="1600" dirty="0"/>
          </a:p>
        </p:txBody>
      </p:sp>
      <p:sp>
        <p:nvSpPr>
          <p:cNvPr id="16" name="Text 11"/>
          <p:cNvSpPr txBox="1"/>
          <p:nvPr/>
        </p:nvSpPr>
        <p:spPr>
          <a:xfrm>
            <a:off x="3560978" y="3794760"/>
            <a:ext cx="1554480" cy="731520"/>
          </a:xfrm>
          <a:prstGeom prst="rect">
            <a:avLst/>
          </a:prstGeom>
          <a:noFill/>
          <a:ln/>
        </p:spPr>
        <p:txBody>
          <a:bodyPr wrap="square" lIns="0" tIns="0" rIns="0" bIns="0" rtlCol="0" anchor="t"/>
          <a:lstStyle/>
          <a:p>
            <a:pPr algn="ctr" indent="0" marL="0">
              <a:buNone/>
            </a:pPr>
            <a:r>
              <a:rPr lang="en-US" sz="1500" dirty="0">
                <a:solidFill>
                  <a:schemeClr val="tx1"/>
                </a:solidFill>
              </a:rPr>
              <a:t>Markt &amp; Geschäftsmodell</a:t>
            </a:r>
            <a:endParaRPr lang="en-US" sz="1500" dirty="0"/>
          </a:p>
        </p:txBody>
      </p:sp>
      <p:sp>
        <p:nvSpPr>
          <p:cNvPr id="17" name="Shape 12"/>
          <p:cNvSpPr/>
          <p:nvPr/>
        </p:nvSpPr>
        <p:spPr>
          <a:xfrm>
            <a:off x="5684368" y="2788920"/>
            <a:ext cx="822960" cy="822960"/>
          </a:xfrm>
          <a:prstGeom prst="ellipse">
            <a:avLst/>
          </a:prstGeom>
          <a:solidFill>
            <a:schemeClr val="accent1"/>
          </a:solidFill>
          <a:ln w="12700">
            <a:solidFill>
              <a:schemeClr val="accent1"/>
            </a:solidFill>
            <a:prstDash val="solid"/>
          </a:ln>
        </p:spPr>
      </p:sp>
      <p:pic>
        <p:nvPicPr>
          <p:cNvPr id="18" name="Image 3" descr="preencoded.png">    </p:cNvPr>
          <p:cNvPicPr>
            <a:picLocks noChangeAspect="1"/>
          </p:cNvPicPr>
          <p:nvPr/>
        </p:nvPicPr>
        <p:blipFill>
          <a:blip r:embed="rId4"/>
          <a:stretch>
            <a:fillRect/>
          </a:stretch>
        </p:blipFill>
        <p:spPr>
          <a:xfrm>
            <a:off x="5906567" y="3011119"/>
            <a:ext cx="378562" cy="378562"/>
          </a:xfrm>
          <a:prstGeom prst="rect">
            <a:avLst/>
          </a:prstGeom>
        </p:spPr>
      </p:pic>
      <p:sp>
        <p:nvSpPr>
          <p:cNvPr id="19" name="Text 13"/>
          <p:cNvSpPr txBox="1"/>
          <p:nvPr/>
        </p:nvSpPr>
        <p:spPr>
          <a:xfrm>
            <a:off x="5364328" y="205740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04</a:t>
            </a:r>
            <a:endParaRPr lang="en-US" sz="1600" dirty="0"/>
          </a:p>
        </p:txBody>
      </p:sp>
      <p:sp>
        <p:nvSpPr>
          <p:cNvPr id="20" name="Text 14"/>
          <p:cNvSpPr txBox="1"/>
          <p:nvPr/>
        </p:nvSpPr>
        <p:spPr>
          <a:xfrm>
            <a:off x="5318608" y="3794760"/>
            <a:ext cx="1554480" cy="731520"/>
          </a:xfrm>
          <a:prstGeom prst="rect">
            <a:avLst/>
          </a:prstGeom>
          <a:noFill/>
          <a:ln/>
        </p:spPr>
        <p:txBody>
          <a:bodyPr wrap="square" lIns="0" tIns="0" rIns="0" bIns="0" rtlCol="0" anchor="t"/>
          <a:lstStyle/>
          <a:p>
            <a:pPr algn="ctr" indent="0" marL="0">
              <a:buNone/>
            </a:pPr>
            <a:r>
              <a:rPr lang="en-US" sz="1500" dirty="0">
                <a:solidFill>
                  <a:schemeClr val="tx1"/>
                </a:solidFill>
              </a:rPr>
              <a:t>Abgrenzung</a:t>
            </a:r>
            <a:endParaRPr lang="en-US" sz="1500" dirty="0"/>
          </a:p>
        </p:txBody>
      </p:sp>
      <p:sp>
        <p:nvSpPr>
          <p:cNvPr id="21" name="Shape 15"/>
          <p:cNvSpPr/>
          <p:nvPr/>
        </p:nvSpPr>
        <p:spPr>
          <a:xfrm>
            <a:off x="7441997" y="2788920"/>
            <a:ext cx="822960" cy="822960"/>
          </a:xfrm>
          <a:prstGeom prst="ellipse">
            <a:avLst/>
          </a:prstGeom>
          <a:solidFill>
            <a:schemeClr val="tx1"/>
          </a:solidFill>
          <a:ln w="12700">
            <a:solidFill>
              <a:schemeClr val="tx1"/>
            </a:solidFill>
            <a:prstDash val="solid"/>
          </a:ln>
        </p:spPr>
      </p:sp>
      <p:pic>
        <p:nvPicPr>
          <p:cNvPr id="22" name="Image 4" descr="preencoded.png">    </p:cNvPr>
          <p:cNvPicPr>
            <a:picLocks noChangeAspect="1"/>
          </p:cNvPicPr>
          <p:nvPr/>
        </p:nvPicPr>
        <p:blipFill>
          <a:blip r:embed="rId5"/>
          <a:stretch>
            <a:fillRect/>
          </a:stretch>
        </p:blipFill>
        <p:spPr>
          <a:xfrm>
            <a:off x="7664196" y="3011119"/>
            <a:ext cx="378562" cy="378562"/>
          </a:xfrm>
          <a:prstGeom prst="rect">
            <a:avLst/>
          </a:prstGeom>
        </p:spPr>
      </p:pic>
      <p:sp>
        <p:nvSpPr>
          <p:cNvPr id="23" name="Text 16"/>
          <p:cNvSpPr txBox="1"/>
          <p:nvPr/>
        </p:nvSpPr>
        <p:spPr>
          <a:xfrm>
            <a:off x="7121957" y="205740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05</a:t>
            </a:r>
            <a:endParaRPr lang="en-US" sz="1600" dirty="0"/>
          </a:p>
        </p:txBody>
      </p:sp>
      <p:sp>
        <p:nvSpPr>
          <p:cNvPr id="24" name="Text 17"/>
          <p:cNvSpPr txBox="1"/>
          <p:nvPr/>
        </p:nvSpPr>
        <p:spPr>
          <a:xfrm>
            <a:off x="7076237" y="3794760"/>
            <a:ext cx="1554480" cy="731520"/>
          </a:xfrm>
          <a:prstGeom prst="rect">
            <a:avLst/>
          </a:prstGeom>
          <a:noFill/>
          <a:ln/>
        </p:spPr>
        <p:txBody>
          <a:bodyPr wrap="square" lIns="0" tIns="0" rIns="0" bIns="0" rtlCol="0" anchor="t"/>
          <a:lstStyle/>
          <a:p>
            <a:pPr algn="ctr" indent="0" marL="0">
              <a:buNone/>
            </a:pPr>
            <a:r>
              <a:rPr lang="en-US" sz="1500" b="1" dirty="0">
                <a:solidFill>
                  <a:schemeClr val="tx1"/>
                </a:solidFill>
              </a:rPr>
              <a:t>User Stories &amp; Demo</a:t>
            </a:r>
            <a:endParaRPr lang="en-US" sz="1500" dirty="0"/>
          </a:p>
        </p:txBody>
      </p:sp>
      <p:sp>
        <p:nvSpPr>
          <p:cNvPr id="25" name="Shape 18"/>
          <p:cNvSpPr/>
          <p:nvPr/>
        </p:nvSpPr>
        <p:spPr>
          <a:xfrm>
            <a:off x="9199626" y="2788920"/>
            <a:ext cx="822960" cy="822960"/>
          </a:xfrm>
          <a:prstGeom prst="ellipse">
            <a:avLst/>
          </a:prstGeom>
          <a:solidFill>
            <a:schemeClr val="accent1"/>
          </a:solidFill>
          <a:ln w="12700">
            <a:solidFill>
              <a:schemeClr val="accent1"/>
            </a:solidFill>
            <a:prstDash val="solid"/>
          </a:ln>
        </p:spPr>
      </p:sp>
      <p:pic>
        <p:nvPicPr>
          <p:cNvPr id="26" name="Image 5" descr="preencoded.png">    </p:cNvPr>
          <p:cNvPicPr>
            <a:picLocks noChangeAspect="1"/>
          </p:cNvPicPr>
          <p:nvPr/>
        </p:nvPicPr>
        <p:blipFill>
          <a:blip r:embed="rId6"/>
          <a:stretch>
            <a:fillRect/>
          </a:stretch>
        </p:blipFill>
        <p:spPr>
          <a:xfrm>
            <a:off x="9421825" y="3011119"/>
            <a:ext cx="378562" cy="378562"/>
          </a:xfrm>
          <a:prstGeom prst="rect">
            <a:avLst/>
          </a:prstGeom>
        </p:spPr>
      </p:pic>
      <p:sp>
        <p:nvSpPr>
          <p:cNvPr id="27" name="Text 19"/>
          <p:cNvSpPr txBox="1"/>
          <p:nvPr/>
        </p:nvSpPr>
        <p:spPr>
          <a:xfrm>
            <a:off x="8879586" y="205740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06</a:t>
            </a:r>
            <a:endParaRPr lang="en-US" sz="1600" dirty="0"/>
          </a:p>
        </p:txBody>
      </p:sp>
      <p:sp>
        <p:nvSpPr>
          <p:cNvPr id="28" name="Text 20"/>
          <p:cNvSpPr txBox="1"/>
          <p:nvPr/>
        </p:nvSpPr>
        <p:spPr>
          <a:xfrm>
            <a:off x="8833866" y="3794760"/>
            <a:ext cx="1554480" cy="731520"/>
          </a:xfrm>
          <a:prstGeom prst="rect">
            <a:avLst/>
          </a:prstGeom>
          <a:noFill/>
          <a:ln/>
        </p:spPr>
        <p:txBody>
          <a:bodyPr wrap="square" lIns="0" tIns="0" rIns="0" bIns="0" rtlCol="0" anchor="t"/>
          <a:lstStyle/>
          <a:p>
            <a:pPr algn="ctr" indent="0" marL="0">
              <a:buNone/>
            </a:pPr>
            <a:r>
              <a:rPr lang="en-US" sz="1500" dirty="0">
                <a:solidFill>
                  <a:schemeClr val="tx1"/>
                </a:solidFill>
              </a:rPr>
              <a:t>Systemanalyse</a:t>
            </a:r>
            <a:endParaRPr lang="en-US" sz="1500" dirty="0"/>
          </a:p>
        </p:txBody>
      </p:sp>
      <p:sp>
        <p:nvSpPr>
          <p:cNvPr id="29" name="Shape 21"/>
          <p:cNvSpPr/>
          <p:nvPr/>
        </p:nvSpPr>
        <p:spPr>
          <a:xfrm>
            <a:off x="10957255" y="2788920"/>
            <a:ext cx="822960" cy="822960"/>
          </a:xfrm>
          <a:prstGeom prst="ellipse">
            <a:avLst/>
          </a:prstGeom>
          <a:solidFill>
            <a:schemeClr val="accent1"/>
          </a:solidFill>
          <a:ln w="12700">
            <a:solidFill>
              <a:schemeClr val="accent1"/>
            </a:solidFill>
            <a:prstDash val="solid"/>
          </a:ln>
        </p:spPr>
      </p:sp>
      <p:pic>
        <p:nvPicPr>
          <p:cNvPr id="30" name="Image 6" descr="preencoded.png">    </p:cNvPr>
          <p:cNvPicPr>
            <a:picLocks noChangeAspect="1"/>
          </p:cNvPicPr>
          <p:nvPr/>
        </p:nvPicPr>
        <p:blipFill>
          <a:blip r:embed="rId7"/>
          <a:stretch>
            <a:fillRect/>
          </a:stretch>
        </p:blipFill>
        <p:spPr>
          <a:xfrm>
            <a:off x="11179454" y="3011119"/>
            <a:ext cx="378562" cy="378562"/>
          </a:xfrm>
          <a:prstGeom prst="rect">
            <a:avLst/>
          </a:prstGeom>
        </p:spPr>
      </p:pic>
      <p:sp>
        <p:nvSpPr>
          <p:cNvPr id="31" name="Text 22"/>
          <p:cNvSpPr txBox="1"/>
          <p:nvPr/>
        </p:nvSpPr>
        <p:spPr>
          <a:xfrm>
            <a:off x="10637215" y="205740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07</a:t>
            </a:r>
            <a:endParaRPr lang="en-US" sz="1600" dirty="0"/>
          </a:p>
        </p:txBody>
      </p:sp>
      <p:sp>
        <p:nvSpPr>
          <p:cNvPr id="32" name="Text 23"/>
          <p:cNvSpPr txBox="1"/>
          <p:nvPr/>
        </p:nvSpPr>
        <p:spPr>
          <a:xfrm>
            <a:off x="10591495" y="3794760"/>
            <a:ext cx="1554480" cy="731520"/>
          </a:xfrm>
          <a:prstGeom prst="rect">
            <a:avLst/>
          </a:prstGeom>
          <a:noFill/>
          <a:ln/>
        </p:spPr>
        <p:txBody>
          <a:bodyPr wrap="square" lIns="0" tIns="0" rIns="0" bIns="0" rtlCol="0" anchor="t"/>
          <a:lstStyle/>
          <a:p>
            <a:pPr algn="ctr" indent="0" marL="0">
              <a:buNone/>
            </a:pPr>
            <a:r>
              <a:rPr lang="en-US" sz="1500" dirty="0">
                <a:solidFill>
                  <a:schemeClr val="tx1"/>
                </a:solidFill>
              </a:rPr>
              <a:t>Fazit &amp; Ausblick</a:t>
            </a:r>
            <a:endParaRPr lang="en-US" sz="1500" dirty="0"/>
          </a:p>
        </p:txBody>
      </p:sp>
      <p:sp>
        <p:nvSpPr>
          <p:cNvPr id="33" name="Shape 24"/>
          <p:cNvSpPr/>
          <p:nvPr/>
        </p:nvSpPr>
        <p:spPr>
          <a:xfrm>
            <a:off x="6939077" y="4663440"/>
            <a:ext cx="1828800" cy="411480"/>
          </a:xfrm>
          <a:prstGeom prst="roundRect">
            <a:avLst>
              <a:gd name="adj" fmla="val 26667"/>
            </a:avLst>
          </a:prstGeom>
          <a:solidFill>
            <a:schemeClr val="accent2"/>
          </a:solidFill>
          <a:ln w="12700">
            <a:solidFill>
              <a:schemeClr val="accent2"/>
            </a:solidFill>
            <a:prstDash val="solid"/>
          </a:ln>
        </p:spPr>
      </p:sp>
      <p:sp>
        <p:nvSpPr>
          <p:cNvPr id="34" name="Text 25"/>
          <p:cNvSpPr txBox="1"/>
          <p:nvPr/>
        </p:nvSpPr>
        <p:spPr>
          <a:xfrm>
            <a:off x="6939077" y="4663440"/>
            <a:ext cx="1828800" cy="411480"/>
          </a:xfrm>
          <a:prstGeom prst="rect">
            <a:avLst/>
          </a:prstGeom>
          <a:noFill/>
          <a:ln/>
        </p:spPr>
        <p:txBody>
          <a:bodyPr wrap="square" lIns="0" tIns="0" rIns="0" bIns="0" rtlCol="0" anchor="ctr"/>
          <a:lstStyle/>
          <a:p>
            <a:pPr algn="ctr" indent="0" marL="0">
              <a:buNone/>
            </a:pPr>
            <a:r>
              <a:rPr lang="en-US" sz="1300" b="1" dirty="0">
                <a:solidFill>
                  <a:schemeClr val="tx1"/>
                </a:solidFill>
              </a:rPr>
              <a:t>5 Demos</a:t>
            </a:r>
            <a:endParaRPr lang="en-US"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01  ·  Problem &amp; Idee</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Terminbuchung heute: aufwendig für alle</a:t>
            </a:r>
            <a:endParaRPr lang="en-US" sz="3400" dirty="0"/>
          </a:p>
        </p:txBody>
      </p:sp>
      <p:sp>
        <p:nvSpPr>
          <p:cNvPr id="4" name="Shape 2"/>
          <p:cNvSpPr/>
          <p:nvPr/>
        </p:nvSpPr>
        <p:spPr>
          <a:xfrm>
            <a:off x="655168" y="1920240"/>
            <a:ext cx="2514600" cy="3566160"/>
          </a:xfrm>
          <a:prstGeom prst="roundRect">
            <a:avLst>
              <a:gd name="adj" fmla="val 4364"/>
            </a:avLst>
          </a:prstGeom>
          <a:solidFill>
            <a:schemeClr val="bg2"/>
          </a:solidFill>
          <a:ln w="12700">
            <a:solidFill>
              <a:schemeClr val="bg2"/>
            </a:solidFill>
            <a:prstDash val="solid"/>
          </a:ln>
        </p:spPr>
      </p:sp>
      <p:sp>
        <p:nvSpPr>
          <p:cNvPr id="5" name="Shape 3"/>
          <p:cNvSpPr/>
          <p:nvPr/>
        </p:nvSpPr>
        <p:spPr>
          <a:xfrm>
            <a:off x="1363828" y="2377440"/>
            <a:ext cx="1097280" cy="10972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660093" y="2673706"/>
            <a:ext cx="504749" cy="504749"/>
          </a:xfrm>
          <a:prstGeom prst="rect">
            <a:avLst/>
          </a:prstGeom>
        </p:spPr>
      </p:pic>
      <p:sp>
        <p:nvSpPr>
          <p:cNvPr id="7" name="Text 4"/>
          <p:cNvSpPr txBox="1"/>
          <p:nvPr/>
        </p:nvSpPr>
        <p:spPr>
          <a:xfrm>
            <a:off x="838048" y="3657600"/>
            <a:ext cx="2148840" cy="777240"/>
          </a:xfrm>
          <a:prstGeom prst="rect">
            <a:avLst/>
          </a:prstGeom>
          <a:noFill/>
          <a:ln/>
        </p:spPr>
        <p:txBody>
          <a:bodyPr wrap="square" lIns="0" tIns="0" rIns="0" bIns="0" rtlCol="0" anchor="ctr"/>
          <a:lstStyle/>
          <a:p>
            <a:pPr algn="ctr" indent="0" marL="0">
              <a:buNone/>
            </a:pPr>
            <a:r>
              <a:rPr lang="en-US" sz="2000" b="1" dirty="0">
                <a:solidFill>
                  <a:schemeClr val="tx1"/>
                </a:solidFill>
              </a:rPr>
              <a:t>Telefonischer Aufwand</a:t>
            </a:r>
            <a:endParaRPr lang="en-US" sz="2000" dirty="0"/>
          </a:p>
        </p:txBody>
      </p:sp>
      <p:sp>
        <p:nvSpPr>
          <p:cNvPr id="8" name="Text 5"/>
          <p:cNvSpPr txBox="1"/>
          <p:nvPr/>
        </p:nvSpPr>
        <p:spPr>
          <a:xfrm>
            <a:off x="838048" y="4526280"/>
            <a:ext cx="2148840" cy="731520"/>
          </a:xfrm>
          <a:prstGeom prst="rect">
            <a:avLst/>
          </a:prstGeom>
          <a:noFill/>
          <a:ln/>
        </p:spPr>
        <p:txBody>
          <a:bodyPr wrap="square" lIns="0" tIns="0" rIns="0" bIns="0" rtlCol="0" anchor="t"/>
          <a:lstStyle/>
          <a:p>
            <a:pPr algn="ctr" indent="0" marL="0">
              <a:buNone/>
            </a:pPr>
            <a:r>
              <a:rPr lang="en-US" sz="1600" dirty="0">
                <a:solidFill>
                  <a:schemeClr val="tx2"/>
                </a:solidFill>
              </a:rPr>
              <a:t>Stunden am Telefon</a:t>
            </a:r>
            <a:endParaRPr lang="en-US" sz="1600" dirty="0"/>
          </a:p>
        </p:txBody>
      </p:sp>
      <p:sp>
        <p:nvSpPr>
          <p:cNvPr id="9" name="Shape 6"/>
          <p:cNvSpPr/>
          <p:nvPr/>
        </p:nvSpPr>
        <p:spPr>
          <a:xfrm>
            <a:off x="3444088" y="1920240"/>
            <a:ext cx="2514600" cy="3566160"/>
          </a:xfrm>
          <a:prstGeom prst="roundRect">
            <a:avLst>
              <a:gd name="adj" fmla="val 4364"/>
            </a:avLst>
          </a:prstGeom>
          <a:solidFill>
            <a:schemeClr val="bg2"/>
          </a:solidFill>
          <a:ln w="12700">
            <a:solidFill>
              <a:schemeClr val="bg2"/>
            </a:solidFill>
            <a:prstDash val="solid"/>
          </a:ln>
        </p:spPr>
      </p:sp>
      <p:sp>
        <p:nvSpPr>
          <p:cNvPr id="10" name="Shape 7"/>
          <p:cNvSpPr/>
          <p:nvPr/>
        </p:nvSpPr>
        <p:spPr>
          <a:xfrm>
            <a:off x="4152748" y="2377440"/>
            <a:ext cx="1097280" cy="109728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449013" y="2673706"/>
            <a:ext cx="504749" cy="504749"/>
          </a:xfrm>
          <a:prstGeom prst="rect">
            <a:avLst/>
          </a:prstGeom>
        </p:spPr>
      </p:pic>
      <p:sp>
        <p:nvSpPr>
          <p:cNvPr id="12" name="Text 8"/>
          <p:cNvSpPr txBox="1"/>
          <p:nvPr/>
        </p:nvSpPr>
        <p:spPr>
          <a:xfrm>
            <a:off x="3626968" y="3657600"/>
            <a:ext cx="2148840" cy="777240"/>
          </a:xfrm>
          <a:prstGeom prst="rect">
            <a:avLst/>
          </a:prstGeom>
          <a:noFill/>
          <a:ln/>
        </p:spPr>
        <p:txBody>
          <a:bodyPr wrap="square" lIns="0" tIns="0" rIns="0" bIns="0" rtlCol="0" anchor="ctr"/>
          <a:lstStyle/>
          <a:p>
            <a:pPr algn="ctr" indent="0" marL="0">
              <a:buNone/>
            </a:pPr>
            <a:r>
              <a:rPr lang="en-US" sz="2000" b="1" dirty="0">
                <a:solidFill>
                  <a:schemeClr val="tx1"/>
                </a:solidFill>
              </a:rPr>
              <a:t>Wartezeiten</a:t>
            </a:r>
            <a:endParaRPr lang="en-US" sz="2000" dirty="0"/>
          </a:p>
        </p:txBody>
      </p:sp>
      <p:sp>
        <p:nvSpPr>
          <p:cNvPr id="13" name="Text 9"/>
          <p:cNvSpPr txBox="1"/>
          <p:nvPr/>
        </p:nvSpPr>
        <p:spPr>
          <a:xfrm>
            <a:off x="3626968" y="4526280"/>
            <a:ext cx="2148840" cy="731520"/>
          </a:xfrm>
          <a:prstGeom prst="rect">
            <a:avLst/>
          </a:prstGeom>
          <a:noFill/>
          <a:ln/>
        </p:spPr>
        <p:txBody>
          <a:bodyPr wrap="square" lIns="0" tIns="0" rIns="0" bIns="0" rtlCol="0" anchor="t"/>
          <a:lstStyle/>
          <a:p>
            <a:pPr algn="ctr" indent="0" marL="0">
              <a:buNone/>
            </a:pPr>
            <a:r>
              <a:rPr lang="en-US" sz="1600" dirty="0">
                <a:solidFill>
                  <a:schemeClr val="tx2"/>
                </a:solidFill>
              </a:rPr>
              <a:t>Warteschleife statt Termin</a:t>
            </a:r>
            <a:endParaRPr lang="en-US" sz="1600" dirty="0"/>
          </a:p>
        </p:txBody>
      </p:sp>
      <p:sp>
        <p:nvSpPr>
          <p:cNvPr id="14" name="Shape 10"/>
          <p:cNvSpPr/>
          <p:nvPr/>
        </p:nvSpPr>
        <p:spPr>
          <a:xfrm>
            <a:off x="6233008" y="1920240"/>
            <a:ext cx="2514600" cy="3566160"/>
          </a:xfrm>
          <a:prstGeom prst="roundRect">
            <a:avLst>
              <a:gd name="adj" fmla="val 4364"/>
            </a:avLst>
          </a:prstGeom>
          <a:solidFill>
            <a:schemeClr val="bg2"/>
          </a:solidFill>
          <a:ln w="12700">
            <a:solidFill>
              <a:schemeClr val="bg2"/>
            </a:solidFill>
            <a:prstDash val="solid"/>
          </a:ln>
        </p:spPr>
      </p:sp>
      <p:sp>
        <p:nvSpPr>
          <p:cNvPr id="15" name="Shape 11"/>
          <p:cNvSpPr/>
          <p:nvPr/>
        </p:nvSpPr>
        <p:spPr>
          <a:xfrm>
            <a:off x="6941668" y="2377440"/>
            <a:ext cx="1097280" cy="109728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7237933" y="2673706"/>
            <a:ext cx="504749" cy="504749"/>
          </a:xfrm>
          <a:prstGeom prst="rect">
            <a:avLst/>
          </a:prstGeom>
        </p:spPr>
      </p:pic>
      <p:sp>
        <p:nvSpPr>
          <p:cNvPr id="17" name="Text 12"/>
          <p:cNvSpPr txBox="1"/>
          <p:nvPr/>
        </p:nvSpPr>
        <p:spPr>
          <a:xfrm>
            <a:off x="6415888" y="3657600"/>
            <a:ext cx="2148840" cy="777240"/>
          </a:xfrm>
          <a:prstGeom prst="rect">
            <a:avLst/>
          </a:prstGeom>
          <a:noFill/>
          <a:ln/>
        </p:spPr>
        <p:txBody>
          <a:bodyPr wrap="square" lIns="0" tIns="0" rIns="0" bIns="0" rtlCol="0" anchor="ctr"/>
          <a:lstStyle/>
          <a:p>
            <a:pPr algn="ctr" indent="0" marL="0">
              <a:buNone/>
            </a:pPr>
            <a:r>
              <a:rPr lang="en-US" sz="2000" b="1" dirty="0">
                <a:solidFill>
                  <a:schemeClr val="tx1"/>
                </a:solidFill>
              </a:rPr>
              <a:t>Vergessene Termine</a:t>
            </a:r>
            <a:endParaRPr lang="en-US" sz="2000" dirty="0"/>
          </a:p>
        </p:txBody>
      </p:sp>
      <p:sp>
        <p:nvSpPr>
          <p:cNvPr id="18" name="Text 13"/>
          <p:cNvSpPr txBox="1"/>
          <p:nvPr/>
        </p:nvSpPr>
        <p:spPr>
          <a:xfrm>
            <a:off x="6415888" y="4526280"/>
            <a:ext cx="2148840" cy="731520"/>
          </a:xfrm>
          <a:prstGeom prst="rect">
            <a:avLst/>
          </a:prstGeom>
          <a:noFill/>
          <a:ln/>
        </p:spPr>
        <p:txBody>
          <a:bodyPr wrap="square" lIns="0" tIns="0" rIns="0" bIns="0" rtlCol="0" anchor="t"/>
          <a:lstStyle/>
          <a:p>
            <a:pPr algn="ctr" indent="0" marL="0">
              <a:buNone/>
            </a:pPr>
            <a:r>
              <a:rPr lang="en-US" sz="1600" dirty="0">
                <a:solidFill>
                  <a:schemeClr val="tx2"/>
                </a:solidFill>
              </a:rPr>
              <a:t>No-Shows &amp; Leerlauf</a:t>
            </a:r>
            <a:endParaRPr lang="en-US" sz="1600" dirty="0"/>
          </a:p>
        </p:txBody>
      </p:sp>
      <p:sp>
        <p:nvSpPr>
          <p:cNvPr id="19" name="Shape 14"/>
          <p:cNvSpPr/>
          <p:nvPr/>
        </p:nvSpPr>
        <p:spPr>
          <a:xfrm>
            <a:off x="9021928" y="1920240"/>
            <a:ext cx="2514600" cy="3566160"/>
          </a:xfrm>
          <a:prstGeom prst="roundRect">
            <a:avLst>
              <a:gd name="adj" fmla="val 4364"/>
            </a:avLst>
          </a:prstGeom>
          <a:solidFill>
            <a:schemeClr val="bg2"/>
          </a:solidFill>
          <a:ln w="12700">
            <a:solidFill>
              <a:schemeClr val="bg2"/>
            </a:solidFill>
            <a:prstDash val="solid"/>
          </a:ln>
        </p:spPr>
      </p:sp>
      <p:sp>
        <p:nvSpPr>
          <p:cNvPr id="20" name="Shape 15"/>
          <p:cNvSpPr/>
          <p:nvPr/>
        </p:nvSpPr>
        <p:spPr>
          <a:xfrm>
            <a:off x="9730588" y="2377440"/>
            <a:ext cx="1097280" cy="109728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10026853" y="2673706"/>
            <a:ext cx="504749" cy="504749"/>
          </a:xfrm>
          <a:prstGeom prst="rect">
            <a:avLst/>
          </a:prstGeom>
        </p:spPr>
      </p:pic>
      <p:sp>
        <p:nvSpPr>
          <p:cNvPr id="22" name="Text 16"/>
          <p:cNvSpPr txBox="1"/>
          <p:nvPr/>
        </p:nvSpPr>
        <p:spPr>
          <a:xfrm>
            <a:off x="9204808" y="3657600"/>
            <a:ext cx="2148840" cy="777240"/>
          </a:xfrm>
          <a:prstGeom prst="rect">
            <a:avLst/>
          </a:prstGeom>
          <a:noFill/>
          <a:ln/>
        </p:spPr>
        <p:txBody>
          <a:bodyPr wrap="square" lIns="0" tIns="0" rIns="0" bIns="0" rtlCol="0" anchor="ctr"/>
          <a:lstStyle/>
          <a:p>
            <a:pPr algn="ctr" indent="0" marL="0">
              <a:buNone/>
            </a:pPr>
            <a:r>
              <a:rPr lang="en-US" sz="2000" b="1" dirty="0">
                <a:solidFill>
                  <a:schemeClr val="tx1"/>
                </a:solidFill>
              </a:rPr>
              <a:t>Manuelle Änderungen</a:t>
            </a:r>
            <a:endParaRPr lang="en-US" sz="2000" dirty="0"/>
          </a:p>
        </p:txBody>
      </p:sp>
      <p:sp>
        <p:nvSpPr>
          <p:cNvPr id="23" name="Text 17"/>
          <p:cNvSpPr txBox="1"/>
          <p:nvPr/>
        </p:nvSpPr>
        <p:spPr>
          <a:xfrm>
            <a:off x="9204808" y="4526280"/>
            <a:ext cx="2148840" cy="731520"/>
          </a:xfrm>
          <a:prstGeom prst="rect">
            <a:avLst/>
          </a:prstGeom>
          <a:noFill/>
          <a:ln/>
        </p:spPr>
        <p:txBody>
          <a:bodyPr wrap="square" lIns="0" tIns="0" rIns="0" bIns="0" rtlCol="0" anchor="t"/>
          <a:lstStyle/>
          <a:p>
            <a:pPr algn="ctr" indent="0" marL="0">
              <a:buNone/>
            </a:pPr>
            <a:r>
              <a:rPr lang="en-US" sz="1600" dirty="0">
                <a:solidFill>
                  <a:schemeClr val="tx2"/>
                </a:solidFill>
              </a:rPr>
              <a:t>Fehleranfällig per Hand</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01  ·  Problem &amp; Idee</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Wie wir zum Thema kamen</a:t>
            </a:r>
            <a:endParaRPr lang="en-US" sz="3400" dirty="0"/>
          </a:p>
        </p:txBody>
      </p:sp>
      <p:sp>
        <p:nvSpPr>
          <p:cNvPr id="4" name="Shape 2"/>
          <p:cNvSpPr/>
          <p:nvPr/>
        </p:nvSpPr>
        <p:spPr>
          <a:xfrm>
            <a:off x="548640" y="1874520"/>
            <a:ext cx="777240" cy="7772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8495" y="2084375"/>
            <a:ext cx="357530" cy="357530"/>
          </a:xfrm>
          <a:prstGeom prst="rect">
            <a:avLst/>
          </a:prstGeom>
        </p:spPr>
      </p:pic>
      <p:sp>
        <p:nvSpPr>
          <p:cNvPr id="6" name="Text 3"/>
          <p:cNvSpPr txBox="1"/>
          <p:nvPr/>
        </p:nvSpPr>
        <p:spPr>
          <a:xfrm>
            <a:off x="1554480" y="1874520"/>
            <a:ext cx="4572000" cy="384048"/>
          </a:xfrm>
          <a:prstGeom prst="rect">
            <a:avLst/>
          </a:prstGeom>
          <a:noFill/>
          <a:ln/>
        </p:spPr>
        <p:txBody>
          <a:bodyPr wrap="square" lIns="0" tIns="0" rIns="0" bIns="0" rtlCol="0" anchor="ctr"/>
          <a:lstStyle/>
          <a:p>
            <a:pPr indent="0" marL="0">
              <a:buNone/>
            </a:pPr>
            <a:r>
              <a:rPr lang="en-US" sz="2000" b="1" dirty="0">
                <a:solidFill>
                  <a:schemeClr val="tx1"/>
                </a:solidFill>
              </a:rPr>
              <a:t>Eigene Erfahrungen</a:t>
            </a:r>
            <a:endParaRPr lang="en-US" sz="2000" dirty="0"/>
          </a:p>
        </p:txBody>
      </p:sp>
      <p:sp>
        <p:nvSpPr>
          <p:cNvPr id="7" name="Text 4"/>
          <p:cNvSpPr txBox="1"/>
          <p:nvPr/>
        </p:nvSpPr>
        <p:spPr>
          <a:xfrm>
            <a:off x="1554480" y="2276856"/>
            <a:ext cx="4572000" cy="365760"/>
          </a:xfrm>
          <a:prstGeom prst="rect">
            <a:avLst/>
          </a:prstGeom>
          <a:noFill/>
          <a:ln/>
        </p:spPr>
        <p:txBody>
          <a:bodyPr wrap="square" lIns="0" tIns="0" rIns="0" bIns="0" rtlCol="0" anchor="ctr"/>
          <a:lstStyle/>
          <a:p>
            <a:pPr indent="0" marL="0">
              <a:buNone/>
            </a:pPr>
            <a:r>
              <a:rPr lang="en-US" sz="1600" dirty="0">
                <a:solidFill>
                  <a:schemeClr val="tx2"/>
                </a:solidFill>
              </a:rPr>
              <a:t>Wartezeiten &amp; verpasste Termine</a:t>
            </a:r>
            <a:endParaRPr lang="en-US" sz="1600" dirty="0"/>
          </a:p>
        </p:txBody>
      </p:sp>
      <p:sp>
        <p:nvSpPr>
          <p:cNvPr id="8" name="Shape 5"/>
          <p:cNvSpPr/>
          <p:nvPr/>
        </p:nvSpPr>
        <p:spPr>
          <a:xfrm>
            <a:off x="548640" y="3063240"/>
            <a:ext cx="777240" cy="77724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758495" y="3273095"/>
            <a:ext cx="357530" cy="357530"/>
          </a:xfrm>
          <a:prstGeom prst="rect">
            <a:avLst/>
          </a:prstGeom>
        </p:spPr>
      </p:pic>
      <p:sp>
        <p:nvSpPr>
          <p:cNvPr id="10" name="Text 6"/>
          <p:cNvSpPr txBox="1"/>
          <p:nvPr/>
        </p:nvSpPr>
        <p:spPr>
          <a:xfrm>
            <a:off x="1554480" y="3063240"/>
            <a:ext cx="4572000" cy="384048"/>
          </a:xfrm>
          <a:prstGeom prst="rect">
            <a:avLst/>
          </a:prstGeom>
          <a:noFill/>
          <a:ln/>
        </p:spPr>
        <p:txBody>
          <a:bodyPr wrap="square" lIns="0" tIns="0" rIns="0" bIns="0" rtlCol="0" anchor="ctr"/>
          <a:lstStyle/>
          <a:p>
            <a:pPr indent="0" marL="0">
              <a:buNone/>
            </a:pPr>
            <a:r>
              <a:rPr lang="en-US" sz="2000" b="1" dirty="0">
                <a:solidFill>
                  <a:schemeClr val="tx1"/>
                </a:solidFill>
              </a:rPr>
              <a:t>Kickoff 01.09.2026</a:t>
            </a:r>
            <a:endParaRPr lang="en-US" sz="2000" dirty="0"/>
          </a:p>
        </p:txBody>
      </p:sp>
      <p:sp>
        <p:nvSpPr>
          <p:cNvPr id="11" name="Text 7"/>
          <p:cNvSpPr txBox="1"/>
          <p:nvPr/>
        </p:nvSpPr>
        <p:spPr>
          <a:xfrm>
            <a:off x="1554480" y="3465576"/>
            <a:ext cx="4572000" cy="365760"/>
          </a:xfrm>
          <a:prstGeom prst="rect">
            <a:avLst/>
          </a:prstGeom>
          <a:noFill/>
          <a:ln/>
        </p:spPr>
        <p:txBody>
          <a:bodyPr wrap="square" lIns="0" tIns="0" rIns="0" bIns="0" rtlCol="0" anchor="ctr"/>
          <a:lstStyle/>
          <a:p>
            <a:pPr indent="0" marL="0">
              <a:buNone/>
            </a:pPr>
            <a:r>
              <a:rPr lang="en-US" sz="1600" dirty="0">
                <a:solidFill>
                  <a:schemeClr val="tx2"/>
                </a:solidFill>
              </a:rPr>
              <a:t>10 Kernprozesse gesammelt</a:t>
            </a:r>
            <a:endParaRPr lang="en-US" sz="1600" dirty="0"/>
          </a:p>
        </p:txBody>
      </p:sp>
      <p:sp>
        <p:nvSpPr>
          <p:cNvPr id="12" name="Shape 8"/>
          <p:cNvSpPr/>
          <p:nvPr/>
        </p:nvSpPr>
        <p:spPr>
          <a:xfrm>
            <a:off x="548640" y="4251960"/>
            <a:ext cx="777240" cy="777240"/>
          </a:xfrm>
          <a:prstGeom prst="ellipse">
            <a:avLst/>
          </a:prstGeom>
          <a:solidFill>
            <a:schemeClr val="accent1"/>
          </a:solidFill>
          <a:ln w="12700">
            <a:solidFill>
              <a:schemeClr val="accent1"/>
            </a:solidFill>
            <a:prstDash val="solid"/>
          </a:ln>
        </p:spPr>
      </p:sp>
      <p:pic>
        <p:nvPicPr>
          <p:cNvPr id="13" name="Image 2" descr="preencoded.png">    </p:cNvPr>
          <p:cNvPicPr>
            <a:picLocks noChangeAspect="1"/>
          </p:cNvPicPr>
          <p:nvPr/>
        </p:nvPicPr>
        <p:blipFill>
          <a:blip r:embed="rId3"/>
          <a:stretch>
            <a:fillRect/>
          </a:stretch>
        </p:blipFill>
        <p:spPr>
          <a:xfrm>
            <a:off x="758495" y="4461815"/>
            <a:ext cx="357530" cy="357530"/>
          </a:xfrm>
          <a:prstGeom prst="rect">
            <a:avLst/>
          </a:prstGeom>
        </p:spPr>
      </p:pic>
      <p:sp>
        <p:nvSpPr>
          <p:cNvPr id="14" name="Text 9"/>
          <p:cNvSpPr txBox="1"/>
          <p:nvPr/>
        </p:nvSpPr>
        <p:spPr>
          <a:xfrm>
            <a:off x="1554480" y="4251960"/>
            <a:ext cx="4572000" cy="384048"/>
          </a:xfrm>
          <a:prstGeom prst="rect">
            <a:avLst/>
          </a:prstGeom>
          <a:noFill/>
          <a:ln/>
        </p:spPr>
        <p:txBody>
          <a:bodyPr wrap="square" lIns="0" tIns="0" rIns="0" bIns="0" rtlCol="0" anchor="ctr"/>
          <a:lstStyle/>
          <a:p>
            <a:pPr indent="0" marL="0">
              <a:buNone/>
            </a:pPr>
            <a:r>
              <a:rPr lang="en-US" sz="2000" b="1" dirty="0">
                <a:solidFill>
                  <a:schemeClr val="tx1"/>
                </a:solidFill>
              </a:rPr>
              <a:t>Entscheidung</a:t>
            </a:r>
            <a:endParaRPr lang="en-US" sz="2000" dirty="0"/>
          </a:p>
        </p:txBody>
      </p:sp>
      <p:sp>
        <p:nvSpPr>
          <p:cNvPr id="15" name="Text 10"/>
          <p:cNvSpPr txBox="1"/>
          <p:nvPr/>
        </p:nvSpPr>
        <p:spPr>
          <a:xfrm>
            <a:off x="1554480" y="4654296"/>
            <a:ext cx="4572000" cy="365760"/>
          </a:xfrm>
          <a:prstGeom prst="rect">
            <a:avLst/>
          </a:prstGeom>
          <a:noFill/>
          <a:ln/>
        </p:spPr>
        <p:txBody>
          <a:bodyPr wrap="square" lIns="0" tIns="0" rIns="0" bIns="0" rtlCol="0" anchor="ctr"/>
          <a:lstStyle/>
          <a:p>
            <a:pPr indent="0" marL="0">
              <a:buNone/>
            </a:pPr>
            <a:r>
              <a:rPr lang="en-US" sz="1600" dirty="0">
                <a:solidFill>
                  <a:schemeClr val="tx2"/>
                </a:solidFill>
              </a:rPr>
              <a:t>Arztpraxis als Domäne</a:t>
            </a:r>
            <a:endParaRPr lang="en-US" sz="1600" dirty="0"/>
          </a:p>
        </p:txBody>
      </p:sp>
      <p:sp>
        <p:nvSpPr>
          <p:cNvPr id="16" name="Shape 11"/>
          <p:cNvSpPr/>
          <p:nvPr/>
        </p:nvSpPr>
        <p:spPr>
          <a:xfrm>
            <a:off x="6675120" y="1783080"/>
            <a:ext cx="4967935" cy="4206240"/>
          </a:xfrm>
          <a:prstGeom prst="roundRect">
            <a:avLst>
              <a:gd name="adj" fmla="val 2609"/>
            </a:avLst>
          </a:prstGeom>
          <a:solidFill>
            <a:schemeClr val="accent2"/>
          </a:solidFill>
          <a:ln w="12700">
            <a:solidFill>
              <a:schemeClr val="accent2"/>
            </a:solidFill>
            <a:prstDash val="solid"/>
          </a:ln>
        </p:spPr>
      </p:sp>
      <p:sp>
        <p:nvSpPr>
          <p:cNvPr id="17" name="Text 12"/>
          <p:cNvSpPr txBox="1"/>
          <p:nvPr/>
        </p:nvSpPr>
        <p:spPr>
          <a:xfrm>
            <a:off x="7040880" y="2011680"/>
            <a:ext cx="3657600" cy="411480"/>
          </a:xfrm>
          <a:prstGeom prst="rect">
            <a:avLst/>
          </a:prstGeom>
          <a:noFill/>
          <a:ln/>
        </p:spPr>
        <p:txBody>
          <a:bodyPr wrap="square" lIns="0" tIns="0" rIns="0" bIns="0" rtlCol="0" anchor="ctr"/>
          <a:lstStyle/>
          <a:p>
            <a:pPr indent="0" marL="0">
              <a:buNone/>
            </a:pPr>
            <a:r>
              <a:rPr lang="en-US" sz="2000" b="1" dirty="0">
                <a:solidFill>
                  <a:schemeClr val="tx1"/>
                </a:solidFill>
              </a:rPr>
              <a:t>Das Team</a:t>
            </a:r>
            <a:endParaRPr lang="en-US" sz="2000" dirty="0"/>
          </a:p>
        </p:txBody>
      </p:sp>
      <p:sp>
        <p:nvSpPr>
          <p:cNvPr id="18" name="Shape 13"/>
          <p:cNvSpPr/>
          <p:nvPr/>
        </p:nvSpPr>
        <p:spPr>
          <a:xfrm>
            <a:off x="7312609" y="2697480"/>
            <a:ext cx="868680" cy="868680"/>
          </a:xfrm>
          <a:prstGeom prst="ellipse">
            <a:avLst/>
          </a:prstGeom>
          <a:solidFill>
            <a:schemeClr val="accent1"/>
          </a:solidFill>
          <a:ln w="12700">
            <a:solidFill>
              <a:schemeClr val="accent1"/>
            </a:solidFill>
            <a:prstDash val="solid"/>
          </a:ln>
        </p:spPr>
      </p:sp>
      <p:sp>
        <p:nvSpPr>
          <p:cNvPr id="19" name="Text 14"/>
          <p:cNvSpPr txBox="1"/>
          <p:nvPr/>
        </p:nvSpPr>
        <p:spPr>
          <a:xfrm>
            <a:off x="7312609" y="26974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F</a:t>
            </a:r>
            <a:endParaRPr lang="en-US" sz="2800" dirty="0"/>
          </a:p>
        </p:txBody>
      </p:sp>
      <p:sp>
        <p:nvSpPr>
          <p:cNvPr id="20" name="Text 15"/>
          <p:cNvSpPr txBox="1"/>
          <p:nvPr/>
        </p:nvSpPr>
        <p:spPr>
          <a:xfrm>
            <a:off x="7040880" y="3657600"/>
            <a:ext cx="1412138" cy="365760"/>
          </a:xfrm>
          <a:prstGeom prst="rect">
            <a:avLst/>
          </a:prstGeom>
          <a:noFill/>
          <a:ln/>
        </p:spPr>
        <p:txBody>
          <a:bodyPr wrap="square" lIns="0" tIns="0" rIns="0" bIns="0" rtlCol="0" anchor="ctr"/>
          <a:lstStyle/>
          <a:p>
            <a:pPr algn="ctr" indent="0" marL="0">
              <a:buNone/>
            </a:pPr>
            <a:r>
              <a:rPr lang="en-US" sz="1600" dirty="0">
                <a:solidFill>
                  <a:schemeClr val="tx1"/>
                </a:solidFill>
              </a:rPr>
              <a:t>Fabian</a:t>
            </a:r>
            <a:endParaRPr lang="en-US" sz="1600" dirty="0"/>
          </a:p>
        </p:txBody>
      </p:sp>
      <p:sp>
        <p:nvSpPr>
          <p:cNvPr id="21" name="Shape 16"/>
          <p:cNvSpPr/>
          <p:nvPr/>
        </p:nvSpPr>
        <p:spPr>
          <a:xfrm>
            <a:off x="8724748" y="2697480"/>
            <a:ext cx="868680" cy="868680"/>
          </a:xfrm>
          <a:prstGeom prst="ellipse">
            <a:avLst/>
          </a:prstGeom>
          <a:solidFill>
            <a:schemeClr val="accent1"/>
          </a:solidFill>
          <a:ln w="12700">
            <a:solidFill>
              <a:schemeClr val="accent1"/>
            </a:solidFill>
            <a:prstDash val="solid"/>
          </a:ln>
        </p:spPr>
      </p:sp>
      <p:sp>
        <p:nvSpPr>
          <p:cNvPr id="22" name="Text 17"/>
          <p:cNvSpPr txBox="1"/>
          <p:nvPr/>
        </p:nvSpPr>
        <p:spPr>
          <a:xfrm>
            <a:off x="8724748" y="26974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L</a:t>
            </a:r>
            <a:endParaRPr lang="en-US" sz="2800" dirty="0"/>
          </a:p>
        </p:txBody>
      </p:sp>
      <p:sp>
        <p:nvSpPr>
          <p:cNvPr id="23" name="Text 18"/>
          <p:cNvSpPr txBox="1"/>
          <p:nvPr/>
        </p:nvSpPr>
        <p:spPr>
          <a:xfrm>
            <a:off x="8453018" y="3657600"/>
            <a:ext cx="1412138" cy="365760"/>
          </a:xfrm>
          <a:prstGeom prst="rect">
            <a:avLst/>
          </a:prstGeom>
          <a:noFill/>
          <a:ln/>
        </p:spPr>
        <p:txBody>
          <a:bodyPr wrap="square" lIns="0" tIns="0" rIns="0" bIns="0" rtlCol="0" anchor="ctr"/>
          <a:lstStyle/>
          <a:p>
            <a:pPr algn="ctr" indent="0" marL="0">
              <a:buNone/>
            </a:pPr>
            <a:r>
              <a:rPr lang="en-US" sz="1600" dirty="0">
                <a:solidFill>
                  <a:schemeClr val="tx1"/>
                </a:solidFill>
              </a:rPr>
              <a:t>Lennart</a:t>
            </a:r>
            <a:endParaRPr lang="en-US" sz="1600" dirty="0"/>
          </a:p>
        </p:txBody>
      </p:sp>
      <p:sp>
        <p:nvSpPr>
          <p:cNvPr id="24" name="Shape 19"/>
          <p:cNvSpPr/>
          <p:nvPr/>
        </p:nvSpPr>
        <p:spPr>
          <a:xfrm>
            <a:off x="10136886" y="2697480"/>
            <a:ext cx="868680" cy="868680"/>
          </a:xfrm>
          <a:prstGeom prst="ellipse">
            <a:avLst/>
          </a:prstGeom>
          <a:solidFill>
            <a:schemeClr val="accent1"/>
          </a:solidFill>
          <a:ln w="12700">
            <a:solidFill>
              <a:schemeClr val="accent1"/>
            </a:solidFill>
            <a:prstDash val="solid"/>
          </a:ln>
        </p:spPr>
      </p:sp>
      <p:sp>
        <p:nvSpPr>
          <p:cNvPr id="25" name="Text 20"/>
          <p:cNvSpPr txBox="1"/>
          <p:nvPr/>
        </p:nvSpPr>
        <p:spPr>
          <a:xfrm>
            <a:off x="10136886" y="26974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T</a:t>
            </a:r>
            <a:endParaRPr lang="en-US" sz="2800" dirty="0"/>
          </a:p>
        </p:txBody>
      </p:sp>
      <p:sp>
        <p:nvSpPr>
          <p:cNvPr id="26" name="Text 21"/>
          <p:cNvSpPr txBox="1"/>
          <p:nvPr/>
        </p:nvSpPr>
        <p:spPr>
          <a:xfrm>
            <a:off x="9865157" y="3657600"/>
            <a:ext cx="1412138" cy="365760"/>
          </a:xfrm>
          <a:prstGeom prst="rect">
            <a:avLst/>
          </a:prstGeom>
          <a:noFill/>
          <a:ln/>
        </p:spPr>
        <p:txBody>
          <a:bodyPr wrap="square" lIns="0" tIns="0" rIns="0" bIns="0" rtlCol="0" anchor="ctr"/>
          <a:lstStyle/>
          <a:p>
            <a:pPr algn="ctr" indent="0" marL="0">
              <a:buNone/>
            </a:pPr>
            <a:r>
              <a:rPr lang="en-US" sz="1600" dirty="0">
                <a:solidFill>
                  <a:schemeClr val="tx1"/>
                </a:solidFill>
              </a:rPr>
              <a:t>Thilo</a:t>
            </a:r>
            <a:endParaRPr lang="en-US" sz="1600" dirty="0"/>
          </a:p>
        </p:txBody>
      </p:sp>
      <p:sp>
        <p:nvSpPr>
          <p:cNvPr id="27" name="Shape 22"/>
          <p:cNvSpPr/>
          <p:nvPr/>
        </p:nvSpPr>
        <p:spPr>
          <a:xfrm>
            <a:off x="7312609" y="4297680"/>
            <a:ext cx="868680" cy="868680"/>
          </a:xfrm>
          <a:prstGeom prst="ellipse">
            <a:avLst/>
          </a:prstGeom>
          <a:solidFill>
            <a:schemeClr val="accent1"/>
          </a:solidFill>
          <a:ln w="12700">
            <a:solidFill>
              <a:schemeClr val="accent1"/>
            </a:solidFill>
            <a:prstDash val="solid"/>
          </a:ln>
        </p:spPr>
      </p:sp>
      <p:sp>
        <p:nvSpPr>
          <p:cNvPr id="28" name="Text 23"/>
          <p:cNvSpPr txBox="1"/>
          <p:nvPr/>
        </p:nvSpPr>
        <p:spPr>
          <a:xfrm>
            <a:off x="7312609" y="42976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H</a:t>
            </a:r>
            <a:endParaRPr lang="en-US" sz="2800" dirty="0"/>
          </a:p>
        </p:txBody>
      </p:sp>
      <p:sp>
        <p:nvSpPr>
          <p:cNvPr id="29" name="Text 24"/>
          <p:cNvSpPr txBox="1"/>
          <p:nvPr/>
        </p:nvSpPr>
        <p:spPr>
          <a:xfrm>
            <a:off x="7040880" y="5257800"/>
            <a:ext cx="1412138" cy="365760"/>
          </a:xfrm>
          <a:prstGeom prst="rect">
            <a:avLst/>
          </a:prstGeom>
          <a:noFill/>
          <a:ln/>
        </p:spPr>
        <p:txBody>
          <a:bodyPr wrap="square" lIns="0" tIns="0" rIns="0" bIns="0" rtlCol="0" anchor="ctr"/>
          <a:lstStyle/>
          <a:p>
            <a:pPr algn="ctr" indent="0" marL="0">
              <a:buNone/>
            </a:pPr>
            <a:r>
              <a:rPr lang="en-US" sz="1600" dirty="0">
                <a:solidFill>
                  <a:schemeClr val="tx1"/>
                </a:solidFill>
              </a:rPr>
              <a:t>Helen</a:t>
            </a:r>
            <a:endParaRPr lang="en-US" sz="1600" dirty="0"/>
          </a:p>
        </p:txBody>
      </p:sp>
      <p:sp>
        <p:nvSpPr>
          <p:cNvPr id="30" name="Shape 25"/>
          <p:cNvSpPr/>
          <p:nvPr/>
        </p:nvSpPr>
        <p:spPr>
          <a:xfrm>
            <a:off x="8724748" y="4297680"/>
            <a:ext cx="868680" cy="868680"/>
          </a:xfrm>
          <a:prstGeom prst="ellipse">
            <a:avLst/>
          </a:prstGeom>
          <a:solidFill>
            <a:schemeClr val="accent1"/>
          </a:solidFill>
          <a:ln w="12700">
            <a:solidFill>
              <a:schemeClr val="accent1"/>
            </a:solidFill>
            <a:prstDash val="solid"/>
          </a:ln>
        </p:spPr>
      </p:sp>
      <p:sp>
        <p:nvSpPr>
          <p:cNvPr id="31" name="Text 26"/>
          <p:cNvSpPr txBox="1"/>
          <p:nvPr/>
        </p:nvSpPr>
        <p:spPr>
          <a:xfrm>
            <a:off x="8724748" y="42976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L</a:t>
            </a:r>
            <a:endParaRPr lang="en-US" sz="2800" dirty="0"/>
          </a:p>
        </p:txBody>
      </p:sp>
      <p:sp>
        <p:nvSpPr>
          <p:cNvPr id="32" name="Text 27"/>
          <p:cNvSpPr txBox="1"/>
          <p:nvPr/>
        </p:nvSpPr>
        <p:spPr>
          <a:xfrm>
            <a:off x="8453018" y="5257800"/>
            <a:ext cx="1412138" cy="365760"/>
          </a:xfrm>
          <a:prstGeom prst="rect">
            <a:avLst/>
          </a:prstGeom>
          <a:noFill/>
          <a:ln/>
        </p:spPr>
        <p:txBody>
          <a:bodyPr wrap="square" lIns="0" tIns="0" rIns="0" bIns="0" rtlCol="0" anchor="ctr"/>
          <a:lstStyle/>
          <a:p>
            <a:pPr algn="ctr" indent="0" marL="0">
              <a:buNone/>
            </a:pPr>
            <a:r>
              <a:rPr lang="en-US" sz="1600" dirty="0">
                <a:solidFill>
                  <a:schemeClr val="tx1"/>
                </a:solidFill>
              </a:rPr>
              <a:t>Luca</a:t>
            </a:r>
            <a:endParaRPr lang="en-US" sz="1600" dirty="0"/>
          </a:p>
        </p:txBody>
      </p:sp>
      <p:sp>
        <p:nvSpPr>
          <p:cNvPr id="33" name="Shape 28"/>
          <p:cNvSpPr/>
          <p:nvPr/>
        </p:nvSpPr>
        <p:spPr>
          <a:xfrm>
            <a:off x="10136886" y="4297680"/>
            <a:ext cx="868680" cy="868680"/>
          </a:xfrm>
          <a:prstGeom prst="ellipse">
            <a:avLst/>
          </a:prstGeom>
          <a:solidFill>
            <a:schemeClr val="accent1"/>
          </a:solidFill>
          <a:ln w="12700">
            <a:solidFill>
              <a:schemeClr val="accent1"/>
            </a:solidFill>
            <a:prstDash val="solid"/>
          </a:ln>
        </p:spPr>
      </p:sp>
      <p:sp>
        <p:nvSpPr>
          <p:cNvPr id="34" name="Text 29"/>
          <p:cNvSpPr txBox="1"/>
          <p:nvPr/>
        </p:nvSpPr>
        <p:spPr>
          <a:xfrm>
            <a:off x="10136886" y="4297680"/>
            <a:ext cx="868680" cy="868680"/>
          </a:xfrm>
          <a:prstGeom prst="rect">
            <a:avLst/>
          </a:prstGeom>
          <a:noFill/>
          <a:ln/>
        </p:spPr>
        <p:txBody>
          <a:bodyPr wrap="square" lIns="0" tIns="0" rIns="0" bIns="0" rtlCol="0" anchor="ctr"/>
          <a:lstStyle/>
          <a:p>
            <a:pPr algn="ctr" indent="0" marL="0">
              <a:buNone/>
            </a:pPr>
            <a:r>
              <a:rPr lang="en-US" sz="2800" b="1" dirty="0">
                <a:solidFill>
                  <a:schemeClr val="bg1"/>
                </a:solidFill>
              </a:rPr>
              <a:t>N</a:t>
            </a:r>
            <a:endParaRPr lang="en-US" sz="2800" dirty="0"/>
          </a:p>
        </p:txBody>
      </p:sp>
      <p:sp>
        <p:nvSpPr>
          <p:cNvPr id="35" name="Text 30"/>
          <p:cNvSpPr txBox="1"/>
          <p:nvPr/>
        </p:nvSpPr>
        <p:spPr>
          <a:xfrm>
            <a:off x="9865157" y="5257800"/>
            <a:ext cx="1412138" cy="365760"/>
          </a:xfrm>
          <a:prstGeom prst="rect">
            <a:avLst/>
          </a:prstGeom>
          <a:noFill/>
          <a:ln/>
        </p:spPr>
        <p:txBody>
          <a:bodyPr wrap="square" lIns="0" tIns="0" rIns="0" bIns="0" rtlCol="0" anchor="ctr"/>
          <a:lstStyle/>
          <a:p>
            <a:pPr algn="ctr" indent="0" marL="0">
              <a:buNone/>
            </a:pPr>
            <a:r>
              <a:rPr lang="en-US" sz="1600" dirty="0">
                <a:solidFill>
                  <a:schemeClr val="tx1"/>
                </a:solidFill>
              </a:rPr>
              <a:t>Niharini</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02  ·  Unsere Lösung</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AutoMedic: eine Plattform für Patient &amp; Praxis</a:t>
            </a:r>
            <a:endParaRPr lang="en-US" sz="3400" dirty="0"/>
          </a:p>
        </p:txBody>
      </p:sp>
      <p:sp>
        <p:nvSpPr>
          <p:cNvPr id="4" name="Shape 2"/>
          <p:cNvSpPr/>
          <p:nvPr/>
        </p:nvSpPr>
        <p:spPr>
          <a:xfrm>
            <a:off x="548640" y="1783080"/>
            <a:ext cx="5349240" cy="3429000"/>
          </a:xfrm>
          <a:prstGeom prst="roundRect">
            <a:avLst>
              <a:gd name="adj" fmla="val 3200"/>
            </a:avLst>
          </a:prstGeom>
          <a:solidFill>
            <a:schemeClr val="bg2"/>
          </a:solidFill>
          <a:ln w="12700">
            <a:solidFill>
              <a:schemeClr val="bg2"/>
            </a:solidFill>
            <a:prstDash val="solid"/>
          </a:ln>
        </p:spPr>
      </p:sp>
      <p:sp>
        <p:nvSpPr>
          <p:cNvPr id="5" name="Shape 3"/>
          <p:cNvSpPr/>
          <p:nvPr/>
        </p:nvSpPr>
        <p:spPr>
          <a:xfrm>
            <a:off x="868680" y="205740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66190" y="2254910"/>
            <a:ext cx="336499" cy="336499"/>
          </a:xfrm>
          <a:prstGeom prst="rect">
            <a:avLst/>
          </a:prstGeom>
        </p:spPr>
      </p:pic>
      <p:sp>
        <p:nvSpPr>
          <p:cNvPr id="7" name="Text 4"/>
          <p:cNvSpPr txBox="1"/>
          <p:nvPr/>
        </p:nvSpPr>
        <p:spPr>
          <a:xfrm>
            <a:off x="1783080" y="2057400"/>
            <a:ext cx="3657600" cy="731520"/>
          </a:xfrm>
          <a:prstGeom prst="rect">
            <a:avLst/>
          </a:prstGeom>
          <a:noFill/>
          <a:ln/>
        </p:spPr>
        <p:txBody>
          <a:bodyPr wrap="square" lIns="0" tIns="0" rIns="0" bIns="0" rtlCol="0" anchor="ctr"/>
          <a:lstStyle/>
          <a:p>
            <a:pPr indent="0" marL="0">
              <a:buNone/>
            </a:pPr>
            <a:r>
              <a:rPr lang="en-US" sz="2400" b="1" dirty="0">
                <a:solidFill>
                  <a:schemeClr val="tx1"/>
                </a:solidFill>
              </a:rPr>
              <a:t>Patient</a:t>
            </a:r>
            <a:endParaRPr lang="en-US" sz="2400" dirty="0"/>
          </a:p>
        </p:txBody>
      </p:sp>
      <p:sp>
        <p:nvSpPr>
          <p:cNvPr id="8" name="Text 5"/>
          <p:cNvSpPr txBox="1"/>
          <p:nvPr/>
        </p:nvSpPr>
        <p:spPr>
          <a:xfrm>
            <a:off x="960120" y="2971800"/>
            <a:ext cx="4617720" cy="210312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tx1"/>
                </a:solidFill>
              </a:rPr>
              <a:t>Termine buchen, verschieben, absagen</a:t>
            </a:r>
            <a:endParaRPr lang="en-US" sz="1700" dirty="0"/>
          </a:p>
          <a:p>
            <a:pPr marL="228600" indent="-228600">
              <a:spcAft>
                <a:spcPts val="600"/>
              </a:spcAft>
              <a:buSzPct val="100000"/>
              <a:buChar char="•"/>
            </a:pPr>
            <a:r>
              <a:rPr lang="en-US" sz="1700" dirty="0">
                <a:solidFill>
                  <a:schemeClr val="tx1"/>
                </a:solidFill>
              </a:rPr>
              <a:t>Erinnerungen &amp; digitaler Check-in</a:t>
            </a:r>
            <a:endParaRPr lang="en-US" sz="1700" dirty="0"/>
          </a:p>
          <a:p>
            <a:pPr marL="228600" indent="-228600">
              <a:spcAft>
                <a:spcPts val="600"/>
              </a:spcAft>
              <a:buSzPct val="100000"/>
              <a:buChar char="•"/>
            </a:pPr>
            <a:r>
              <a:rPr lang="en-US" sz="1700" dirty="0">
                <a:solidFill>
                  <a:schemeClr val="tx1"/>
                </a:solidFill>
              </a:rPr>
              <a:t>Rezepte &amp; Überweisungen digital</a:t>
            </a:r>
            <a:endParaRPr lang="en-US" sz="1700" dirty="0"/>
          </a:p>
          <a:p>
            <a:pPr marL="228600" indent="-228600">
              <a:spcAft>
                <a:spcPts val="600"/>
              </a:spcAft>
              <a:buSzPct val="100000"/>
              <a:buChar char="•"/>
            </a:pPr>
            <a:r>
              <a:rPr lang="en-US" sz="1700" dirty="0">
                <a:solidFill>
                  <a:schemeClr val="tx1"/>
                </a:solidFill>
              </a:rPr>
              <a:t>Apotheke finden &amp; reservieren</a:t>
            </a:r>
            <a:endParaRPr lang="en-US" sz="1700" dirty="0"/>
          </a:p>
          <a:p>
            <a:pPr marL="228600" indent="-228600">
              <a:spcAft>
                <a:spcPts val="600"/>
              </a:spcAft>
              <a:buSzPct val="100000"/>
              <a:buChar char="•"/>
            </a:pPr>
            <a:r>
              <a:rPr lang="en-US" sz="1700" dirty="0">
                <a:solidFill>
                  <a:schemeClr val="tx1"/>
                </a:solidFill>
              </a:rPr>
              <a:t>Videosprechstunde</a:t>
            </a:r>
            <a:endParaRPr lang="en-US" sz="1700" dirty="0"/>
          </a:p>
        </p:txBody>
      </p:sp>
      <p:sp>
        <p:nvSpPr>
          <p:cNvPr id="9" name="Shape 6"/>
          <p:cNvSpPr/>
          <p:nvPr/>
        </p:nvSpPr>
        <p:spPr>
          <a:xfrm>
            <a:off x="6291072" y="1783080"/>
            <a:ext cx="5349240" cy="3429000"/>
          </a:xfrm>
          <a:prstGeom prst="roundRect">
            <a:avLst>
              <a:gd name="adj" fmla="val 3200"/>
            </a:avLst>
          </a:prstGeom>
          <a:solidFill>
            <a:schemeClr val="bg2"/>
          </a:solidFill>
          <a:ln w="12700">
            <a:solidFill>
              <a:schemeClr val="bg2"/>
            </a:solidFill>
            <a:prstDash val="solid"/>
          </a:ln>
        </p:spPr>
      </p:sp>
      <p:sp>
        <p:nvSpPr>
          <p:cNvPr id="10" name="Shape 7"/>
          <p:cNvSpPr/>
          <p:nvPr/>
        </p:nvSpPr>
        <p:spPr>
          <a:xfrm>
            <a:off x="6611112" y="2057400"/>
            <a:ext cx="731520" cy="7315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808622" y="2254910"/>
            <a:ext cx="336499" cy="336499"/>
          </a:xfrm>
          <a:prstGeom prst="rect">
            <a:avLst/>
          </a:prstGeom>
        </p:spPr>
      </p:pic>
      <p:sp>
        <p:nvSpPr>
          <p:cNvPr id="12" name="Text 8"/>
          <p:cNvSpPr txBox="1"/>
          <p:nvPr/>
        </p:nvSpPr>
        <p:spPr>
          <a:xfrm>
            <a:off x="7525512" y="2057400"/>
            <a:ext cx="3657600" cy="731520"/>
          </a:xfrm>
          <a:prstGeom prst="rect">
            <a:avLst/>
          </a:prstGeom>
          <a:noFill/>
          <a:ln/>
        </p:spPr>
        <p:txBody>
          <a:bodyPr wrap="square" lIns="0" tIns="0" rIns="0" bIns="0" rtlCol="0" anchor="ctr"/>
          <a:lstStyle/>
          <a:p>
            <a:pPr indent="0" marL="0">
              <a:buNone/>
            </a:pPr>
            <a:r>
              <a:rPr lang="en-US" sz="2400" b="1" dirty="0">
                <a:solidFill>
                  <a:schemeClr val="tx1"/>
                </a:solidFill>
              </a:rPr>
              <a:t>Praxis</a:t>
            </a:r>
            <a:endParaRPr lang="en-US" sz="2400" dirty="0"/>
          </a:p>
        </p:txBody>
      </p:sp>
      <p:sp>
        <p:nvSpPr>
          <p:cNvPr id="13" name="Text 9"/>
          <p:cNvSpPr txBox="1"/>
          <p:nvPr/>
        </p:nvSpPr>
        <p:spPr>
          <a:xfrm>
            <a:off x="6702552" y="2971800"/>
            <a:ext cx="4617720" cy="2103120"/>
          </a:xfrm>
          <a:prstGeom prst="rect">
            <a:avLst/>
          </a:prstGeom>
          <a:noFill/>
          <a:ln/>
        </p:spPr>
        <p:txBody>
          <a:bodyPr wrap="square" lIns="0" tIns="0" rIns="0" bIns="0" rtlCol="0" anchor="t"/>
          <a:lstStyle/>
          <a:p>
            <a:pPr marL="228600" indent="-228600">
              <a:spcAft>
                <a:spcPts val="600"/>
              </a:spcAft>
              <a:buSzPct val="100000"/>
              <a:buChar char="•"/>
            </a:pPr>
            <a:r>
              <a:rPr lang="en-US" sz="1700" dirty="0">
                <a:solidFill>
                  <a:schemeClr val="tx1"/>
                </a:solidFill>
              </a:rPr>
              <a:t>Sprechzeiten &amp; Verfügbarkeiten</a:t>
            </a:r>
            <a:endParaRPr lang="en-US" sz="1700" dirty="0"/>
          </a:p>
          <a:p>
            <a:pPr marL="228600" indent="-228600">
              <a:spcAft>
                <a:spcPts val="600"/>
              </a:spcAft>
              <a:buSzPct val="100000"/>
              <a:buChar char="•"/>
            </a:pPr>
            <a:r>
              <a:rPr lang="en-US" sz="1700" dirty="0">
                <a:solidFill>
                  <a:schemeClr val="tx1"/>
                </a:solidFill>
              </a:rPr>
              <a:t>Termine organisieren</a:t>
            </a:r>
            <a:endParaRPr lang="en-US" sz="1700" dirty="0"/>
          </a:p>
          <a:p>
            <a:pPr marL="228600" indent="-228600">
              <a:spcAft>
                <a:spcPts val="600"/>
              </a:spcAft>
              <a:buSzPct val="100000"/>
              <a:buChar char="•"/>
            </a:pPr>
            <a:r>
              <a:rPr lang="en-US" sz="1700" dirty="0">
                <a:solidFill>
                  <a:schemeClr val="tx1"/>
                </a:solidFill>
              </a:rPr>
              <a:t>Patienten digital freischalten</a:t>
            </a:r>
            <a:endParaRPr lang="en-US" sz="1700" dirty="0"/>
          </a:p>
          <a:p>
            <a:pPr marL="228600" indent="-228600">
              <a:spcAft>
                <a:spcPts val="600"/>
              </a:spcAft>
              <a:buSzPct val="100000"/>
              <a:buChar char="•"/>
            </a:pPr>
            <a:r>
              <a:rPr lang="en-US" sz="1700" dirty="0">
                <a:solidFill>
                  <a:schemeClr val="tx1"/>
                </a:solidFill>
              </a:rPr>
              <a:t>Notfälle priorisieren</a:t>
            </a:r>
            <a:endParaRPr lang="en-US" sz="1700" dirty="0"/>
          </a:p>
          <a:p>
            <a:pPr marL="228600" indent="-228600">
              <a:spcAft>
                <a:spcPts val="600"/>
              </a:spcAft>
              <a:buSzPct val="100000"/>
              <a:buChar char="•"/>
            </a:pPr>
            <a:r>
              <a:rPr lang="en-US" sz="1700" dirty="0">
                <a:solidFill>
                  <a:schemeClr val="tx1"/>
                </a:solidFill>
              </a:rPr>
              <a:t>Post-Termin-Nachbereitung</a:t>
            </a:r>
            <a:endParaRPr lang="en-US" sz="1700" dirty="0"/>
          </a:p>
        </p:txBody>
      </p:sp>
      <p:sp>
        <p:nvSpPr>
          <p:cNvPr id="14" name="Shape 10"/>
          <p:cNvSpPr/>
          <p:nvPr/>
        </p:nvSpPr>
        <p:spPr>
          <a:xfrm>
            <a:off x="548640" y="5440680"/>
            <a:ext cx="11094415" cy="640080"/>
          </a:xfrm>
          <a:prstGeom prst="roundRect">
            <a:avLst>
              <a:gd name="adj" fmla="val 17143"/>
            </a:avLst>
          </a:prstGeom>
          <a:solidFill>
            <a:schemeClr val="tx1"/>
          </a:solidFill>
          <a:ln w="12700">
            <a:solidFill>
              <a:schemeClr val="tx1"/>
            </a:solidFill>
            <a:prstDash val="solid"/>
          </a:ln>
        </p:spPr>
      </p:sp>
      <p:sp>
        <p:nvSpPr>
          <p:cNvPr id="15" name="Text 11"/>
          <p:cNvSpPr txBox="1"/>
          <p:nvPr/>
        </p:nvSpPr>
        <p:spPr>
          <a:xfrm>
            <a:off x="548640" y="5440680"/>
            <a:ext cx="11094415" cy="640080"/>
          </a:xfrm>
          <a:prstGeom prst="rect">
            <a:avLst/>
          </a:prstGeom>
          <a:noFill/>
          <a:ln/>
        </p:spPr>
        <p:txBody>
          <a:bodyPr wrap="square" lIns="0" tIns="0" rIns="0" bIns="0" rtlCol="0" anchor="ctr"/>
          <a:lstStyle/>
          <a:p>
            <a:pPr algn="ctr" indent="0" marL="0">
              <a:buNone/>
            </a:pPr>
            <a:r>
              <a:rPr lang="en-US" sz="1800" b="1" dirty="0">
                <a:solidFill>
                  <a:schemeClr val="accent1"/>
                </a:solidFill>
              </a:rPr>
              <a:t>Automatisch:  </a:t>
            </a:r>
            <a:pPr algn="ctr" indent="0" marL="0">
              <a:buNone/>
            </a:pPr>
            <a:r>
              <a:rPr lang="en-US" sz="1800" dirty="0">
                <a:solidFill>
                  <a:schemeClr val="bg1"/>
                </a:solidFill>
              </a:rPr>
              <a:t>Verfügbarkeit · Erinnerungen · Benachrichtigungen · Stornierungen</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03  ·  Markt &amp; Geschäftsmodell</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Markt &amp; Zielkunden</a:t>
            </a:r>
            <a:endParaRPr lang="en-US" sz="3400" dirty="0"/>
          </a:p>
        </p:txBody>
      </p:sp>
      <p:sp>
        <p:nvSpPr>
          <p:cNvPr id="4" name="Shape 2"/>
          <p:cNvSpPr/>
          <p:nvPr/>
        </p:nvSpPr>
        <p:spPr>
          <a:xfrm>
            <a:off x="548640" y="1828800"/>
            <a:ext cx="3520440" cy="2286000"/>
          </a:xfrm>
          <a:prstGeom prst="roundRect">
            <a:avLst>
              <a:gd name="adj" fmla="val 4800"/>
            </a:avLst>
          </a:prstGeom>
          <a:solidFill>
            <a:schemeClr val="bg2"/>
          </a:solidFill>
          <a:ln w="12700">
            <a:solidFill>
              <a:schemeClr val="bg2"/>
            </a:solidFill>
            <a:prstDash val="solid"/>
          </a:ln>
        </p:spPr>
      </p:sp>
      <p:sp>
        <p:nvSpPr>
          <p:cNvPr id="5" name="Text 3"/>
          <p:cNvSpPr txBox="1"/>
          <p:nvPr/>
        </p:nvSpPr>
        <p:spPr>
          <a:xfrm>
            <a:off x="731520" y="2103120"/>
            <a:ext cx="3154680" cy="1005840"/>
          </a:xfrm>
          <a:prstGeom prst="rect">
            <a:avLst/>
          </a:prstGeom>
          <a:noFill/>
          <a:ln/>
        </p:spPr>
        <p:txBody>
          <a:bodyPr wrap="square" lIns="0" tIns="0" rIns="0" bIns="0" rtlCol="0" anchor="ctr"/>
          <a:lstStyle/>
          <a:p>
            <a:pPr algn="ctr" indent="0" marL="0">
              <a:buNone/>
            </a:pPr>
            <a:r>
              <a:rPr lang="en-US" sz="5400" b="1" dirty="0">
                <a:solidFill>
                  <a:schemeClr val="accent1"/>
                </a:solidFill>
              </a:rPr>
              <a:t>~93.000</a:t>
            </a:r>
            <a:endParaRPr lang="en-US" sz="5400" dirty="0"/>
          </a:p>
        </p:txBody>
      </p:sp>
      <p:sp>
        <p:nvSpPr>
          <p:cNvPr id="6" name="Text 4"/>
          <p:cNvSpPr txBox="1"/>
          <p:nvPr/>
        </p:nvSpPr>
        <p:spPr>
          <a:xfrm>
            <a:off x="822960" y="3200400"/>
            <a:ext cx="2971800" cy="640080"/>
          </a:xfrm>
          <a:prstGeom prst="rect">
            <a:avLst/>
          </a:prstGeom>
          <a:noFill/>
          <a:ln/>
        </p:spPr>
        <p:txBody>
          <a:bodyPr wrap="square" lIns="0" tIns="0" rIns="0" bIns="0" rtlCol="0" anchor="t"/>
          <a:lstStyle/>
          <a:p>
            <a:pPr algn="ctr" indent="0" marL="0">
              <a:buNone/>
            </a:pPr>
            <a:r>
              <a:rPr lang="en-US" sz="1700" dirty="0">
                <a:solidFill>
                  <a:schemeClr val="tx2"/>
                </a:solidFill>
              </a:rPr>
              <a:t>niedergelassene Ärzte in Deutschland</a:t>
            </a:r>
            <a:endParaRPr lang="en-US" sz="1700" dirty="0"/>
          </a:p>
        </p:txBody>
      </p:sp>
      <p:sp>
        <p:nvSpPr>
          <p:cNvPr id="7" name="Shape 5"/>
          <p:cNvSpPr/>
          <p:nvPr/>
        </p:nvSpPr>
        <p:spPr>
          <a:xfrm>
            <a:off x="4425696" y="1828800"/>
            <a:ext cx="3520440" cy="2286000"/>
          </a:xfrm>
          <a:prstGeom prst="roundRect">
            <a:avLst>
              <a:gd name="adj" fmla="val 4800"/>
            </a:avLst>
          </a:prstGeom>
          <a:solidFill>
            <a:schemeClr val="bg2"/>
          </a:solidFill>
          <a:ln w="12700">
            <a:solidFill>
              <a:schemeClr val="bg2"/>
            </a:solidFill>
            <a:prstDash val="solid"/>
          </a:ln>
        </p:spPr>
      </p:sp>
      <p:sp>
        <p:nvSpPr>
          <p:cNvPr id="8" name="Text 6"/>
          <p:cNvSpPr txBox="1"/>
          <p:nvPr/>
        </p:nvSpPr>
        <p:spPr>
          <a:xfrm>
            <a:off x="4608576" y="2103120"/>
            <a:ext cx="3154680" cy="1005840"/>
          </a:xfrm>
          <a:prstGeom prst="rect">
            <a:avLst/>
          </a:prstGeom>
          <a:noFill/>
          <a:ln/>
        </p:spPr>
        <p:txBody>
          <a:bodyPr wrap="square" lIns="0" tIns="0" rIns="0" bIns="0" rtlCol="0" anchor="ctr"/>
          <a:lstStyle/>
          <a:p>
            <a:pPr algn="ctr" indent="0" marL="0">
              <a:buNone/>
            </a:pPr>
            <a:r>
              <a:rPr lang="en-US" sz="5400" b="1" dirty="0">
                <a:solidFill>
                  <a:schemeClr val="accent1"/>
                </a:solidFill>
              </a:rPr>
              <a:t>73 Mio.</a:t>
            </a:r>
            <a:endParaRPr lang="en-US" sz="5400" dirty="0"/>
          </a:p>
        </p:txBody>
      </p:sp>
      <p:sp>
        <p:nvSpPr>
          <p:cNvPr id="9" name="Text 7"/>
          <p:cNvSpPr txBox="1"/>
          <p:nvPr/>
        </p:nvSpPr>
        <p:spPr>
          <a:xfrm>
            <a:off x="4700016" y="3200400"/>
            <a:ext cx="2971800" cy="640080"/>
          </a:xfrm>
          <a:prstGeom prst="rect">
            <a:avLst/>
          </a:prstGeom>
          <a:noFill/>
          <a:ln/>
        </p:spPr>
        <p:txBody>
          <a:bodyPr wrap="square" lIns="0" tIns="0" rIns="0" bIns="0" rtlCol="0" anchor="t"/>
          <a:lstStyle/>
          <a:p>
            <a:pPr algn="ctr" indent="0" marL="0">
              <a:buNone/>
            </a:pPr>
            <a:r>
              <a:rPr lang="en-US" sz="1700" dirty="0">
                <a:solidFill>
                  <a:schemeClr val="tx2"/>
                </a:solidFill>
              </a:rPr>
              <a:t>gesetzlich Versicherte</a:t>
            </a:r>
            <a:endParaRPr lang="en-US" sz="1700" dirty="0"/>
          </a:p>
        </p:txBody>
      </p:sp>
      <p:sp>
        <p:nvSpPr>
          <p:cNvPr id="10" name="Shape 8"/>
          <p:cNvSpPr/>
          <p:nvPr/>
        </p:nvSpPr>
        <p:spPr>
          <a:xfrm>
            <a:off x="8302752" y="1828800"/>
            <a:ext cx="3520440" cy="2286000"/>
          </a:xfrm>
          <a:prstGeom prst="roundRect">
            <a:avLst>
              <a:gd name="adj" fmla="val 4800"/>
            </a:avLst>
          </a:prstGeom>
          <a:solidFill>
            <a:schemeClr val="bg2"/>
          </a:solidFill>
          <a:ln w="12700">
            <a:solidFill>
              <a:schemeClr val="bg2"/>
            </a:solidFill>
            <a:prstDash val="solid"/>
          </a:ln>
        </p:spPr>
      </p:sp>
      <p:sp>
        <p:nvSpPr>
          <p:cNvPr id="11" name="Text 9"/>
          <p:cNvSpPr txBox="1"/>
          <p:nvPr/>
        </p:nvSpPr>
        <p:spPr>
          <a:xfrm>
            <a:off x="8485632" y="2103120"/>
            <a:ext cx="3154680" cy="1005840"/>
          </a:xfrm>
          <a:prstGeom prst="rect">
            <a:avLst/>
          </a:prstGeom>
          <a:noFill/>
          <a:ln/>
        </p:spPr>
        <p:txBody>
          <a:bodyPr wrap="square" lIns="0" tIns="0" rIns="0" bIns="0" rtlCol="0" anchor="ctr"/>
          <a:lstStyle/>
          <a:p>
            <a:pPr algn="ctr" indent="0" marL="0">
              <a:buNone/>
            </a:pPr>
            <a:r>
              <a:rPr lang="en-US" sz="5400" b="1" dirty="0">
                <a:solidFill>
                  <a:schemeClr val="accent1"/>
                </a:solidFill>
              </a:rPr>
              <a:t>&gt; 6 Mrd. €</a:t>
            </a:r>
            <a:endParaRPr lang="en-US" sz="5400" dirty="0"/>
          </a:p>
        </p:txBody>
      </p:sp>
      <p:sp>
        <p:nvSpPr>
          <p:cNvPr id="12" name="Text 10"/>
          <p:cNvSpPr txBox="1"/>
          <p:nvPr/>
        </p:nvSpPr>
        <p:spPr>
          <a:xfrm>
            <a:off x="8577072" y="3200400"/>
            <a:ext cx="2971800" cy="640080"/>
          </a:xfrm>
          <a:prstGeom prst="rect">
            <a:avLst/>
          </a:prstGeom>
          <a:noFill/>
          <a:ln/>
        </p:spPr>
        <p:txBody>
          <a:bodyPr wrap="square" lIns="0" tIns="0" rIns="0" bIns="0" rtlCol="0" anchor="t"/>
          <a:lstStyle/>
          <a:p>
            <a:pPr algn="ctr" indent="0" marL="0">
              <a:buNone/>
            </a:pPr>
            <a:r>
              <a:rPr lang="en-US" sz="1700" dirty="0">
                <a:solidFill>
                  <a:schemeClr val="tx2"/>
                </a:solidFill>
              </a:rPr>
              <a:t>E-Health-Markt DE (2023)</a:t>
            </a:r>
            <a:endParaRPr lang="en-US" sz="1700" dirty="0"/>
          </a:p>
        </p:txBody>
      </p:sp>
      <p:sp>
        <p:nvSpPr>
          <p:cNvPr id="13" name="Shape 11"/>
          <p:cNvSpPr/>
          <p:nvPr/>
        </p:nvSpPr>
        <p:spPr>
          <a:xfrm>
            <a:off x="548640" y="4526280"/>
            <a:ext cx="11094415" cy="1280160"/>
          </a:xfrm>
          <a:prstGeom prst="roundRect">
            <a:avLst>
              <a:gd name="adj" fmla="val 8571"/>
            </a:avLst>
          </a:prstGeom>
          <a:solidFill>
            <a:schemeClr val="accent2"/>
          </a:solidFill>
          <a:ln w="12700">
            <a:solidFill>
              <a:schemeClr val="accent2"/>
            </a:solidFill>
            <a:prstDash val="solid"/>
          </a:ln>
        </p:spPr>
      </p:sp>
      <p:sp>
        <p:nvSpPr>
          <p:cNvPr id="14" name="Shape 12"/>
          <p:cNvSpPr/>
          <p:nvPr/>
        </p:nvSpPr>
        <p:spPr>
          <a:xfrm>
            <a:off x="868680" y="4754880"/>
            <a:ext cx="822960" cy="822960"/>
          </a:xfrm>
          <a:prstGeom prst="ellipse">
            <a:avLst/>
          </a:prstGeom>
          <a:solidFill>
            <a:schemeClr val="tx1"/>
          </a:solidFill>
          <a:ln w="12700">
            <a:solidFill>
              <a:schemeClr val="tx1"/>
            </a:solidFill>
            <a:prstDash val="solid"/>
          </a:ln>
        </p:spPr>
      </p:sp>
      <p:pic>
        <p:nvPicPr>
          <p:cNvPr id="15" name="Image 0" descr="preencoded.png">    </p:cNvPr>
          <p:cNvPicPr>
            <a:picLocks noChangeAspect="1"/>
          </p:cNvPicPr>
          <p:nvPr/>
        </p:nvPicPr>
        <p:blipFill>
          <a:blip r:embed="rId1"/>
          <a:stretch>
            <a:fillRect/>
          </a:stretch>
        </p:blipFill>
        <p:spPr>
          <a:xfrm>
            <a:off x="1090879" y="4977079"/>
            <a:ext cx="378562" cy="378562"/>
          </a:xfrm>
          <a:prstGeom prst="rect">
            <a:avLst/>
          </a:prstGeom>
        </p:spPr>
      </p:pic>
      <p:sp>
        <p:nvSpPr>
          <p:cNvPr id="16" name="Text 13"/>
          <p:cNvSpPr txBox="1"/>
          <p:nvPr/>
        </p:nvSpPr>
        <p:spPr>
          <a:xfrm>
            <a:off x="1965960" y="4526280"/>
            <a:ext cx="9144000" cy="1280160"/>
          </a:xfrm>
          <a:prstGeom prst="rect">
            <a:avLst/>
          </a:prstGeom>
          <a:noFill/>
          <a:ln/>
        </p:spPr>
        <p:txBody>
          <a:bodyPr wrap="square" lIns="0" tIns="0" rIns="0" bIns="0" rtlCol="0" anchor="ctr"/>
          <a:lstStyle/>
          <a:p>
            <a:pPr indent="0" marL="0">
              <a:buNone/>
            </a:pPr>
            <a:r>
              <a:rPr lang="en-US" sz="2200" b="1" dirty="0">
                <a:solidFill>
                  <a:schemeClr val="tx1"/>
                </a:solidFill>
              </a:rPr>
              <a:t>Unser Fokus: </a:t>
            </a:r>
            <a:pPr indent="0" marL="0">
              <a:buNone/>
            </a:pPr>
            <a:r>
              <a:rPr lang="en-US" sz="2200" dirty="0">
                <a:solidFill>
                  <a:schemeClr val="tx1"/>
                </a:solidFill>
              </a:rPr>
              <a:t>kleine &amp; mittlere Praxen ohne eigene IT</a:t>
            </a:r>
            <a:endParaRPr lang="en-US" sz="2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03  ·  Markt &amp; Geschäftsmodell</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Geschäftsmodell &amp; Wertschöpfung</a:t>
            </a:r>
            <a:endParaRPr lang="en-US" sz="3400" dirty="0"/>
          </a:p>
        </p:txBody>
      </p:sp>
      <p:sp>
        <p:nvSpPr>
          <p:cNvPr id="4" name="Text 2"/>
          <p:cNvSpPr txBox="1"/>
          <p:nvPr/>
        </p:nvSpPr>
        <p:spPr>
          <a:xfrm>
            <a:off x="548640" y="1783080"/>
            <a:ext cx="4937760" cy="411480"/>
          </a:xfrm>
          <a:prstGeom prst="rect">
            <a:avLst/>
          </a:prstGeom>
          <a:noFill/>
          <a:ln/>
        </p:spPr>
        <p:txBody>
          <a:bodyPr wrap="square" lIns="0" tIns="0" rIns="0" bIns="0" rtlCol="0" anchor="ctr"/>
          <a:lstStyle/>
          <a:p>
            <a:pPr indent="0" marL="0">
              <a:buNone/>
            </a:pPr>
            <a:r>
              <a:rPr lang="en-US" sz="2000" b="1" dirty="0">
                <a:solidFill>
                  <a:schemeClr val="tx1"/>
                </a:solidFill>
              </a:rPr>
              <a:t>SaaS-Modell</a:t>
            </a:r>
            <a:endParaRPr lang="en-US" sz="2000" dirty="0"/>
          </a:p>
        </p:txBody>
      </p:sp>
      <p:sp>
        <p:nvSpPr>
          <p:cNvPr id="5" name="Shape 3"/>
          <p:cNvSpPr/>
          <p:nvPr/>
        </p:nvSpPr>
        <p:spPr>
          <a:xfrm>
            <a:off x="548640" y="237744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21462" y="2550262"/>
            <a:ext cx="294437" cy="294437"/>
          </a:xfrm>
          <a:prstGeom prst="rect">
            <a:avLst/>
          </a:prstGeom>
        </p:spPr>
      </p:pic>
      <p:sp>
        <p:nvSpPr>
          <p:cNvPr id="7" name="Text 4"/>
          <p:cNvSpPr txBox="1"/>
          <p:nvPr/>
        </p:nvSpPr>
        <p:spPr>
          <a:xfrm>
            <a:off x="1417320" y="2377440"/>
            <a:ext cx="4069080" cy="640080"/>
          </a:xfrm>
          <a:prstGeom prst="rect">
            <a:avLst/>
          </a:prstGeom>
          <a:noFill/>
          <a:ln/>
        </p:spPr>
        <p:txBody>
          <a:bodyPr wrap="square" lIns="0" tIns="0" rIns="0" bIns="0" rtlCol="0" anchor="ctr"/>
          <a:lstStyle/>
          <a:p>
            <a:pPr indent="0" marL="0">
              <a:buNone/>
            </a:pPr>
            <a:r>
              <a:rPr lang="en-US" sz="1800" dirty="0">
                <a:solidFill>
                  <a:schemeClr val="tx1"/>
                </a:solidFill>
              </a:rPr>
              <a:t>Monatliche Lizenz für Praxen</a:t>
            </a:r>
            <a:endParaRPr lang="en-US" sz="1800" dirty="0"/>
          </a:p>
        </p:txBody>
      </p:sp>
      <p:sp>
        <p:nvSpPr>
          <p:cNvPr id="8" name="Shape 5"/>
          <p:cNvSpPr/>
          <p:nvPr/>
        </p:nvSpPr>
        <p:spPr>
          <a:xfrm>
            <a:off x="548640" y="3246120"/>
            <a:ext cx="640080" cy="64008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721462" y="3418942"/>
            <a:ext cx="294437" cy="294437"/>
          </a:xfrm>
          <a:prstGeom prst="rect">
            <a:avLst/>
          </a:prstGeom>
        </p:spPr>
      </p:pic>
      <p:sp>
        <p:nvSpPr>
          <p:cNvPr id="10" name="Text 6"/>
          <p:cNvSpPr txBox="1"/>
          <p:nvPr/>
        </p:nvSpPr>
        <p:spPr>
          <a:xfrm>
            <a:off x="1417320" y="3246120"/>
            <a:ext cx="4069080" cy="640080"/>
          </a:xfrm>
          <a:prstGeom prst="rect">
            <a:avLst/>
          </a:prstGeom>
          <a:noFill/>
          <a:ln/>
        </p:spPr>
        <p:txBody>
          <a:bodyPr wrap="square" lIns="0" tIns="0" rIns="0" bIns="0" rtlCol="0" anchor="ctr"/>
          <a:lstStyle/>
          <a:p>
            <a:pPr indent="0" marL="0">
              <a:buNone/>
            </a:pPr>
            <a:r>
              <a:rPr lang="en-US" sz="1800" dirty="0">
                <a:solidFill>
                  <a:schemeClr val="tx1"/>
                </a:solidFill>
              </a:rPr>
              <a:t>App für Patienten kostenlos</a:t>
            </a:r>
            <a:endParaRPr lang="en-US" sz="1800" dirty="0"/>
          </a:p>
        </p:txBody>
      </p:sp>
      <p:sp>
        <p:nvSpPr>
          <p:cNvPr id="11" name="Shape 7"/>
          <p:cNvSpPr/>
          <p:nvPr/>
        </p:nvSpPr>
        <p:spPr>
          <a:xfrm>
            <a:off x="548640" y="4114800"/>
            <a:ext cx="640080" cy="64008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721462" y="4287622"/>
            <a:ext cx="294437" cy="294437"/>
          </a:xfrm>
          <a:prstGeom prst="rect">
            <a:avLst/>
          </a:prstGeom>
        </p:spPr>
      </p:pic>
      <p:sp>
        <p:nvSpPr>
          <p:cNvPr id="13" name="Text 8"/>
          <p:cNvSpPr txBox="1"/>
          <p:nvPr/>
        </p:nvSpPr>
        <p:spPr>
          <a:xfrm>
            <a:off x="1417320" y="4114800"/>
            <a:ext cx="4069080" cy="640080"/>
          </a:xfrm>
          <a:prstGeom prst="rect">
            <a:avLst/>
          </a:prstGeom>
          <a:noFill/>
          <a:ln/>
        </p:spPr>
        <p:txBody>
          <a:bodyPr wrap="square" lIns="0" tIns="0" rIns="0" bIns="0" rtlCol="0" anchor="ctr"/>
          <a:lstStyle/>
          <a:p>
            <a:pPr indent="0" marL="0">
              <a:buNone/>
            </a:pPr>
            <a:r>
              <a:rPr lang="en-US" sz="1800" dirty="0">
                <a:solidFill>
                  <a:schemeClr val="tx1"/>
                </a:solidFill>
              </a:rPr>
              <a:t>Premium: Video &amp; Analytics</a:t>
            </a:r>
            <a:endParaRPr lang="en-US" sz="1800" dirty="0"/>
          </a:p>
        </p:txBody>
      </p:sp>
      <p:sp>
        <p:nvSpPr>
          <p:cNvPr id="14" name="Shape 9"/>
          <p:cNvSpPr/>
          <p:nvPr/>
        </p:nvSpPr>
        <p:spPr>
          <a:xfrm>
            <a:off x="548640" y="4983480"/>
            <a:ext cx="640080" cy="640080"/>
          </a:xfrm>
          <a:prstGeom prst="ellipse">
            <a:avLst/>
          </a:prstGeom>
          <a:solidFill>
            <a:schemeClr val="accent1"/>
          </a:solidFill>
          <a:ln w="12700">
            <a:solidFill>
              <a:schemeClr val="accent1"/>
            </a:solidFill>
            <a:prstDash val="solid"/>
          </a:ln>
        </p:spPr>
      </p:sp>
      <p:pic>
        <p:nvPicPr>
          <p:cNvPr id="15" name="Image 3" descr="preencoded.png">    </p:cNvPr>
          <p:cNvPicPr>
            <a:picLocks noChangeAspect="1"/>
          </p:cNvPicPr>
          <p:nvPr/>
        </p:nvPicPr>
        <p:blipFill>
          <a:blip r:embed="rId4"/>
          <a:stretch>
            <a:fillRect/>
          </a:stretch>
        </p:blipFill>
        <p:spPr>
          <a:xfrm>
            <a:off x="721462" y="5156302"/>
            <a:ext cx="294437" cy="294437"/>
          </a:xfrm>
          <a:prstGeom prst="rect">
            <a:avLst/>
          </a:prstGeom>
        </p:spPr>
      </p:pic>
      <p:sp>
        <p:nvSpPr>
          <p:cNvPr id="16" name="Text 10"/>
          <p:cNvSpPr txBox="1"/>
          <p:nvPr/>
        </p:nvSpPr>
        <p:spPr>
          <a:xfrm>
            <a:off x="1417320" y="4983480"/>
            <a:ext cx="4069080" cy="640080"/>
          </a:xfrm>
          <a:prstGeom prst="rect">
            <a:avLst/>
          </a:prstGeom>
          <a:noFill/>
          <a:ln/>
        </p:spPr>
        <p:txBody>
          <a:bodyPr wrap="square" lIns="0" tIns="0" rIns="0" bIns="0" rtlCol="0" anchor="ctr"/>
          <a:lstStyle/>
          <a:p>
            <a:pPr indent="0" marL="0">
              <a:buNone/>
            </a:pPr>
            <a:r>
              <a:rPr lang="en-US" sz="1800" dirty="0">
                <a:solidFill>
                  <a:schemeClr val="tx1"/>
                </a:solidFill>
              </a:rPr>
              <a:t>Partner: Apotheken</a:t>
            </a:r>
            <a:endParaRPr lang="en-US" sz="1800" dirty="0"/>
          </a:p>
        </p:txBody>
      </p:sp>
      <p:sp>
        <p:nvSpPr>
          <p:cNvPr id="17" name="Text 11"/>
          <p:cNvSpPr txBox="1"/>
          <p:nvPr/>
        </p:nvSpPr>
        <p:spPr>
          <a:xfrm>
            <a:off x="6035040" y="1783080"/>
            <a:ext cx="5608015" cy="411480"/>
          </a:xfrm>
          <a:prstGeom prst="rect">
            <a:avLst/>
          </a:prstGeom>
          <a:noFill/>
          <a:ln/>
        </p:spPr>
        <p:txBody>
          <a:bodyPr wrap="square" lIns="0" tIns="0" rIns="0" bIns="0" rtlCol="0" anchor="ctr"/>
          <a:lstStyle/>
          <a:p>
            <a:pPr indent="0" marL="0">
              <a:buNone/>
            </a:pPr>
            <a:r>
              <a:rPr lang="en-US" sz="2000" b="1" dirty="0">
                <a:solidFill>
                  <a:schemeClr val="tx1"/>
                </a:solidFill>
              </a:rPr>
              <a:t>Mehrwert</a:t>
            </a:r>
            <a:endParaRPr lang="en-US" sz="2000" dirty="0"/>
          </a:p>
        </p:txBody>
      </p:sp>
      <p:sp>
        <p:nvSpPr>
          <p:cNvPr id="18" name="Shape 12"/>
          <p:cNvSpPr/>
          <p:nvPr/>
        </p:nvSpPr>
        <p:spPr>
          <a:xfrm>
            <a:off x="6035040" y="2377440"/>
            <a:ext cx="1747418" cy="3383280"/>
          </a:xfrm>
          <a:prstGeom prst="roundRect">
            <a:avLst>
              <a:gd name="adj" fmla="val 6279"/>
            </a:avLst>
          </a:prstGeom>
          <a:solidFill>
            <a:schemeClr val="bg2"/>
          </a:solidFill>
          <a:ln w="12700">
            <a:solidFill>
              <a:schemeClr val="bg2"/>
            </a:solidFill>
            <a:prstDash val="solid"/>
          </a:ln>
        </p:spPr>
      </p:sp>
      <p:sp>
        <p:nvSpPr>
          <p:cNvPr id="19" name="Text 13"/>
          <p:cNvSpPr txBox="1"/>
          <p:nvPr/>
        </p:nvSpPr>
        <p:spPr>
          <a:xfrm>
            <a:off x="6172200" y="2606040"/>
            <a:ext cx="1473098" cy="457200"/>
          </a:xfrm>
          <a:prstGeom prst="rect">
            <a:avLst/>
          </a:prstGeom>
          <a:noFill/>
          <a:ln/>
        </p:spPr>
        <p:txBody>
          <a:bodyPr wrap="square" lIns="0" tIns="0" rIns="0" bIns="0" rtlCol="0" anchor="ctr"/>
          <a:lstStyle/>
          <a:p>
            <a:pPr algn="ctr" indent="0" marL="0">
              <a:buNone/>
            </a:pPr>
            <a:r>
              <a:rPr lang="en-US" sz="2000" b="1" dirty="0">
                <a:solidFill>
                  <a:schemeClr val="tx1"/>
                </a:solidFill>
              </a:rPr>
              <a:t>Patient</a:t>
            </a:r>
            <a:endParaRPr lang="en-US" sz="2000" dirty="0"/>
          </a:p>
        </p:txBody>
      </p:sp>
      <p:sp>
        <p:nvSpPr>
          <p:cNvPr id="20" name="Text 14"/>
          <p:cNvSpPr txBox="1"/>
          <p:nvPr/>
        </p:nvSpPr>
        <p:spPr>
          <a:xfrm>
            <a:off x="6172200" y="3291840"/>
            <a:ext cx="1473098" cy="2194560"/>
          </a:xfrm>
          <a:prstGeom prst="rect">
            <a:avLst/>
          </a:prstGeom>
          <a:noFill/>
          <a:ln/>
        </p:spPr>
        <p:txBody>
          <a:bodyPr wrap="square" lIns="0" tIns="0" rIns="0" bIns="0" rtlCol="0" anchor="t"/>
          <a:lstStyle/>
          <a:p>
            <a:pPr algn="ctr" indent="0" marL="0">
              <a:spcAft>
                <a:spcPts val="1400"/>
              </a:spcAft>
              <a:buNone/>
            </a:pPr>
            <a:r>
              <a:rPr lang="en-US" sz="1600" dirty="0">
                <a:solidFill>
                  <a:schemeClr val="tx1"/>
                </a:solidFill>
              </a:rPr>
              <a:t>Weniger Wartezeit</a:t>
            </a:r>
            <a:endParaRPr lang="en-US" sz="1600" dirty="0"/>
          </a:p>
          <a:p>
            <a:pPr algn="ctr" indent="0" marL="0">
              <a:spcAft>
                <a:spcPts val="1400"/>
              </a:spcAft>
              <a:buNone/>
            </a:pPr>
            <a:r>
              <a:rPr lang="en-US" sz="1600" dirty="0">
                <a:solidFill>
                  <a:schemeClr val="tx1"/>
                </a:solidFill>
              </a:rPr>
              <a:t>Digitale Dokumente</a:t>
            </a:r>
            <a:endParaRPr lang="en-US" sz="1600" dirty="0"/>
          </a:p>
          <a:p>
            <a:pPr algn="ctr" indent="0" marL="0">
              <a:spcAft>
                <a:spcPts val="1400"/>
              </a:spcAft>
              <a:buNone/>
            </a:pPr>
            <a:r>
              <a:rPr lang="en-US" sz="1600" dirty="0">
                <a:solidFill>
                  <a:schemeClr val="tx1"/>
                </a:solidFill>
              </a:rPr>
              <a:t>Transparenz</a:t>
            </a:r>
            <a:endParaRPr lang="en-US" sz="1600" dirty="0"/>
          </a:p>
        </p:txBody>
      </p:sp>
      <p:sp>
        <p:nvSpPr>
          <p:cNvPr id="21" name="Shape 15"/>
          <p:cNvSpPr/>
          <p:nvPr/>
        </p:nvSpPr>
        <p:spPr>
          <a:xfrm>
            <a:off x="7965338" y="2377440"/>
            <a:ext cx="1747418" cy="3383280"/>
          </a:xfrm>
          <a:prstGeom prst="roundRect">
            <a:avLst>
              <a:gd name="adj" fmla="val 6279"/>
            </a:avLst>
          </a:prstGeom>
          <a:solidFill>
            <a:schemeClr val="accent1"/>
          </a:solidFill>
          <a:ln w="12700">
            <a:solidFill>
              <a:schemeClr val="accent1"/>
            </a:solidFill>
            <a:prstDash val="solid"/>
          </a:ln>
        </p:spPr>
      </p:sp>
      <p:sp>
        <p:nvSpPr>
          <p:cNvPr id="22" name="Text 16"/>
          <p:cNvSpPr txBox="1"/>
          <p:nvPr/>
        </p:nvSpPr>
        <p:spPr>
          <a:xfrm>
            <a:off x="8102498" y="2606040"/>
            <a:ext cx="1473098" cy="457200"/>
          </a:xfrm>
          <a:prstGeom prst="rect">
            <a:avLst/>
          </a:prstGeom>
          <a:noFill/>
          <a:ln/>
        </p:spPr>
        <p:txBody>
          <a:bodyPr wrap="square" lIns="0" tIns="0" rIns="0" bIns="0" rtlCol="0" anchor="ctr"/>
          <a:lstStyle/>
          <a:p>
            <a:pPr algn="ctr" indent="0" marL="0">
              <a:buNone/>
            </a:pPr>
            <a:r>
              <a:rPr lang="en-US" sz="2000" b="1" dirty="0">
                <a:solidFill>
                  <a:schemeClr val="bg1"/>
                </a:solidFill>
              </a:rPr>
              <a:t>Praxis</a:t>
            </a:r>
            <a:endParaRPr lang="en-US" sz="2000" dirty="0"/>
          </a:p>
        </p:txBody>
      </p:sp>
      <p:sp>
        <p:nvSpPr>
          <p:cNvPr id="23" name="Text 17"/>
          <p:cNvSpPr txBox="1"/>
          <p:nvPr/>
        </p:nvSpPr>
        <p:spPr>
          <a:xfrm>
            <a:off x="8102498" y="3291840"/>
            <a:ext cx="1473098" cy="2194560"/>
          </a:xfrm>
          <a:prstGeom prst="rect">
            <a:avLst/>
          </a:prstGeom>
          <a:noFill/>
          <a:ln/>
        </p:spPr>
        <p:txBody>
          <a:bodyPr wrap="square" lIns="0" tIns="0" rIns="0" bIns="0" rtlCol="0" anchor="t"/>
          <a:lstStyle/>
          <a:p>
            <a:pPr algn="ctr" indent="0" marL="0">
              <a:spcAft>
                <a:spcPts val="1400"/>
              </a:spcAft>
              <a:buNone/>
            </a:pPr>
            <a:r>
              <a:rPr lang="en-US" sz="1600" dirty="0">
                <a:solidFill>
                  <a:schemeClr val="bg1"/>
                </a:solidFill>
              </a:rPr>
              <a:t>~30 % weniger Anrufe</a:t>
            </a:r>
            <a:endParaRPr lang="en-US" sz="1600" dirty="0"/>
          </a:p>
          <a:p>
            <a:pPr algn="ctr" indent="0" marL="0">
              <a:spcAft>
                <a:spcPts val="1400"/>
              </a:spcAft>
              <a:buNone/>
            </a:pPr>
            <a:r>
              <a:rPr lang="en-US" sz="1600" dirty="0">
                <a:solidFill>
                  <a:schemeClr val="bg1"/>
                </a:solidFill>
              </a:rPr>
              <a:t>Weniger No‑Shows</a:t>
            </a:r>
            <a:endParaRPr lang="en-US" sz="1600" dirty="0"/>
          </a:p>
          <a:p>
            <a:pPr algn="ctr" indent="0" marL="0">
              <a:spcAft>
                <a:spcPts val="1400"/>
              </a:spcAft>
              <a:buNone/>
            </a:pPr>
            <a:r>
              <a:rPr lang="en-US" sz="1600" dirty="0">
                <a:solidFill>
                  <a:schemeClr val="bg1"/>
                </a:solidFill>
              </a:rPr>
              <a:t>Entlastetes Team</a:t>
            </a:r>
            <a:endParaRPr lang="en-US" sz="1600" dirty="0"/>
          </a:p>
        </p:txBody>
      </p:sp>
      <p:sp>
        <p:nvSpPr>
          <p:cNvPr id="24" name="Shape 18"/>
          <p:cNvSpPr/>
          <p:nvPr/>
        </p:nvSpPr>
        <p:spPr>
          <a:xfrm>
            <a:off x="9895637" y="2377440"/>
            <a:ext cx="1747418" cy="3383280"/>
          </a:xfrm>
          <a:prstGeom prst="roundRect">
            <a:avLst>
              <a:gd name="adj" fmla="val 6279"/>
            </a:avLst>
          </a:prstGeom>
          <a:solidFill>
            <a:schemeClr val="bg2"/>
          </a:solidFill>
          <a:ln w="12700">
            <a:solidFill>
              <a:schemeClr val="bg2"/>
            </a:solidFill>
            <a:prstDash val="solid"/>
          </a:ln>
        </p:spPr>
      </p:sp>
      <p:sp>
        <p:nvSpPr>
          <p:cNvPr id="25" name="Text 19"/>
          <p:cNvSpPr txBox="1"/>
          <p:nvPr/>
        </p:nvSpPr>
        <p:spPr>
          <a:xfrm>
            <a:off x="10032797" y="2606040"/>
            <a:ext cx="1473098" cy="457200"/>
          </a:xfrm>
          <a:prstGeom prst="rect">
            <a:avLst/>
          </a:prstGeom>
          <a:noFill/>
          <a:ln/>
        </p:spPr>
        <p:txBody>
          <a:bodyPr wrap="square" lIns="0" tIns="0" rIns="0" bIns="0" rtlCol="0" anchor="ctr"/>
          <a:lstStyle/>
          <a:p>
            <a:pPr algn="ctr" indent="0" marL="0">
              <a:buNone/>
            </a:pPr>
            <a:r>
              <a:rPr lang="en-US" sz="2000" b="1" dirty="0">
                <a:solidFill>
                  <a:schemeClr val="tx1"/>
                </a:solidFill>
              </a:rPr>
              <a:t>System</a:t>
            </a:r>
            <a:endParaRPr lang="en-US" sz="2000" dirty="0"/>
          </a:p>
        </p:txBody>
      </p:sp>
      <p:sp>
        <p:nvSpPr>
          <p:cNvPr id="26" name="Text 20"/>
          <p:cNvSpPr txBox="1"/>
          <p:nvPr/>
        </p:nvSpPr>
        <p:spPr>
          <a:xfrm>
            <a:off x="10032797" y="3291840"/>
            <a:ext cx="1473098" cy="2194560"/>
          </a:xfrm>
          <a:prstGeom prst="rect">
            <a:avLst/>
          </a:prstGeom>
          <a:noFill/>
          <a:ln/>
        </p:spPr>
        <p:txBody>
          <a:bodyPr wrap="square" lIns="0" tIns="0" rIns="0" bIns="0" rtlCol="0" anchor="t"/>
          <a:lstStyle/>
          <a:p>
            <a:pPr algn="ctr" indent="0" marL="0">
              <a:spcAft>
                <a:spcPts val="1400"/>
              </a:spcAft>
              <a:buNone/>
            </a:pPr>
            <a:r>
              <a:rPr lang="en-US" sz="1600" dirty="0">
                <a:solidFill>
                  <a:schemeClr val="tx1"/>
                </a:solidFill>
              </a:rPr>
              <a:t>Automatisierung</a:t>
            </a:r>
            <a:endParaRPr lang="en-US" sz="1600" dirty="0"/>
          </a:p>
          <a:p>
            <a:pPr algn="ctr" indent="0" marL="0">
              <a:spcAft>
                <a:spcPts val="1400"/>
              </a:spcAft>
              <a:buNone/>
            </a:pPr>
            <a:r>
              <a:rPr lang="en-US" sz="1600" dirty="0">
                <a:solidFill>
                  <a:schemeClr val="tx1"/>
                </a:solidFill>
              </a:rPr>
              <a:t>Papierlos</a:t>
            </a:r>
            <a:endParaRPr lang="en-US" sz="1600" dirty="0"/>
          </a:p>
          <a:p>
            <a:pPr algn="ctr" indent="0" marL="0">
              <a:spcAft>
                <a:spcPts val="1400"/>
              </a:spcAft>
              <a:buNone/>
            </a:pPr>
            <a:r>
              <a:rPr lang="en-US" sz="1600" dirty="0">
                <a:solidFill>
                  <a:schemeClr val="tx1"/>
                </a:solidFill>
              </a:rPr>
              <a:t>Echtzeit-Daten</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04  ·  Abgrenzung</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Was AutoMedic besonders macht</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144975"/>
                <a:gridCol w="1645920"/>
                <a:gridCol w="1645920"/>
                <a:gridCol w="1645920"/>
                <a:gridCol w="2011680"/>
              </a:tblGrid>
              <a:tr h="438912">
                <a:tc>
                  <a:txBody>
                    <a:bodyPr/>
                    <a:lstStyle/>
                    <a:p>
                      <a:pPr algn="l" indent="0" marL="0">
                        <a:buNone/>
                      </a:pPr>
                      <a:r>
                        <a:rPr lang="en-US" sz="1600" b="1" dirty="0">
                          <a:solidFill>
                            <a:schemeClr val="bg1"/>
                          </a:solidFill>
                        </a:rPr>
                        <a:t>Feature</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Doctolib</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ClickDoc</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Jameda</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tx1"/>
                    </a:solidFill>
                  </a:tcPr>
                </a:tc>
                <a:tc>
                  <a:txBody>
                    <a:bodyPr/>
                    <a:lstStyle/>
                    <a:p>
                      <a:pPr algn="ctr" indent="0" marL="0">
                        <a:buNone/>
                      </a:pPr>
                      <a:r>
                        <a:rPr lang="en-US" sz="1600" b="1" dirty="0">
                          <a:solidFill>
                            <a:schemeClr val="bg1"/>
                          </a:solidFill>
                        </a:rPr>
                        <a:t>AutoMedic</a:t>
                      </a:r>
                      <a:endParaRPr lang="en-US" sz="16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1"/>
                    </a:solidFill>
                  </a:tcPr>
                </a:tc>
              </a:tr>
              <a:tr h="438912">
                <a:tc>
                  <a:txBody>
                    <a:bodyPr/>
                    <a:lstStyle/>
                    <a:p>
                      <a:pPr algn="l" indent="0" marL="0">
                        <a:buNone/>
                      </a:pPr>
                      <a:r>
                        <a:rPr lang="en-US" sz="1500" dirty="0">
                          <a:solidFill>
                            <a:schemeClr val="tx1"/>
                          </a:solidFill>
                        </a:rPr>
                        <a:t>Online-Terminbuchung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r h="438912">
                <a:tc>
                  <a:txBody>
                    <a:bodyPr/>
                    <a:lstStyle/>
                    <a:p>
                      <a:pPr algn="l" indent="0" marL="0">
                        <a:buNone/>
                      </a:pPr>
                      <a:r>
                        <a:rPr lang="en-US" sz="1500" dirty="0">
                          <a:solidFill>
                            <a:schemeClr val="tx1"/>
                          </a:solidFill>
                        </a:rPr>
                        <a:t>Termin verschieben / absagen</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4"/>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r h="438912">
                <a:tc>
                  <a:txBody>
                    <a:bodyPr/>
                    <a:lstStyle/>
                    <a:p>
                      <a:pPr algn="l" indent="0" marL="0">
                        <a:buNone/>
                      </a:pPr>
                      <a:r>
                        <a:rPr lang="en-US" sz="1500" dirty="0">
                          <a:solidFill>
                            <a:schemeClr val="tx1"/>
                          </a:solidFill>
                        </a:rPr>
                        <a:t>Videosprechstunde</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r h="438912">
                <a:tc>
                  <a:txBody>
                    <a:bodyPr/>
                    <a:lstStyle/>
                    <a:p>
                      <a:pPr algn="l" indent="0" marL="0">
                        <a:buNone/>
                      </a:pPr>
                      <a:r>
                        <a:rPr lang="en-US" sz="1500" b="1" dirty="0">
                          <a:solidFill>
                            <a:schemeClr val="tx1"/>
                          </a:solidFill>
                        </a:rPr>
                        <a:t>Überweisungsvermittlung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r h="438912">
                <a:tc>
                  <a:txBody>
                    <a:bodyPr/>
                    <a:lstStyle/>
                    <a:p>
                      <a:pPr algn="l" indent="0" marL="0">
                        <a:buNone/>
                      </a:pPr>
                      <a:r>
                        <a:rPr lang="en-US" sz="1500" b="1" dirty="0">
                          <a:solidFill>
                            <a:schemeClr val="tx1"/>
                          </a:solidFill>
                        </a:rPr>
                        <a:t>Apotheken-Integration</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r h="438912">
                <a:tc>
                  <a:txBody>
                    <a:bodyPr/>
                    <a:lstStyle/>
                    <a:p>
                      <a:pPr algn="l" indent="0" marL="0">
                        <a:buNone/>
                      </a:pPr>
                      <a:r>
                        <a:rPr lang="en-US" sz="1500" b="1" dirty="0">
                          <a:solidFill>
                            <a:schemeClr val="tx1"/>
                          </a:solidFill>
                        </a:rPr>
                        <a:t>Post-Termin-Nachbereitung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4"/>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r h="438912">
                <a:tc>
                  <a:txBody>
                    <a:bodyPr/>
                    <a:lstStyle/>
                    <a:p>
                      <a:pPr algn="l" indent="0" marL="0">
                        <a:buNone/>
                      </a:pPr>
                      <a:r>
                        <a:rPr lang="en-US" sz="1500" b="1" dirty="0">
                          <a:solidFill>
                            <a:schemeClr val="tx1"/>
                          </a:solidFill>
                        </a:rPr>
                        <a:t>Notfallpatient-Priorisierung</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3"/>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r h="438912">
                <a:tc>
                  <a:txBody>
                    <a:bodyPr/>
                    <a:lstStyle/>
                    <a:p>
                      <a:pPr algn="l" indent="0" marL="0">
                        <a:buNone/>
                      </a:pPr>
                      <a:r>
                        <a:rPr lang="en-US" sz="1500" dirty="0">
                          <a:solidFill>
                            <a:schemeClr val="tx1"/>
                          </a:solidFill>
                        </a:rPr>
                        <a:t>DSGVO / Fokus D-A-CH</a:t>
                      </a:r>
                      <a:endParaRPr lang="en-US" sz="15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bg2"/>
                    </a:solidFill>
                  </a:tcPr>
                </a:tc>
                <a:tc>
                  <a:txBody>
                    <a:bodyPr/>
                    <a:lstStyle/>
                    <a:p>
                      <a:pPr algn="ctr" indent="0" marL="0">
                        <a:buNone/>
                      </a:pPr>
                      <a:r>
                        <a:rPr lang="en-US" sz="1800" b="1" dirty="0">
                          <a:solidFill>
                            <a:schemeClr val="accent1"/>
                          </a:solidFill>
                        </a:rPr>
                        <a:t>✓</a:t>
                      </a:r>
                      <a:endParaRPr lang="en-US" sz="1800" dirty="0"/>
                    </a:p>
                  </a:txBody>
                  <a:tcPr marL="137160" marR="137160" marT="0" marB="0" anchor="ctr">
                    <a:lnL w="9525" cap="flat" cmpd="sng" algn="ctr">
                      <a:solidFill>
                        <a:srgbClr val="DFE6E9"/>
                      </a:solidFill>
                      <a:prstDash val="solid"/>
                      <a:round/>
                      <a:headEnd type="none" w="med" len="med"/>
                      <a:tailEnd type="none" w="med" len="med"/>
                    </a:lnL>
                    <a:lnR w="9525" cap="flat" cmpd="sng" algn="ctr">
                      <a:solidFill>
                        <a:srgbClr val="DFE6E9"/>
                      </a:solidFill>
                      <a:prstDash val="solid"/>
                      <a:round/>
                      <a:headEnd type="none" w="med" len="med"/>
                      <a:tailEnd type="none" w="med" len="med"/>
                    </a:lnR>
                    <a:lnT w="9525" cap="flat" cmpd="sng" algn="ctr">
                      <a:solidFill>
                        <a:srgbClr val="DFE6E9"/>
                      </a:solidFill>
                      <a:prstDash val="solid"/>
                      <a:round/>
                      <a:headEnd type="none" w="med" len="med"/>
                      <a:tailEnd type="none" w="med" len="med"/>
                    </a:lnT>
                    <a:lnB w="9525" cap="flat" cmpd="sng" algn="ctr">
                      <a:solidFill>
                        <a:srgbClr val="DFE6E9"/>
                      </a:solidFill>
                      <a:prstDash val="solid"/>
                      <a:round/>
                      <a:headEnd type="none" w="med" len="med"/>
                      <a:tailEnd type="none" w="med" len="med"/>
                    </a:lnB>
                    <a:solidFill>
                      <a:schemeClr val="accent2"/>
                    </a:solidFill>
                  </a:tcPr>
                </a:tc>
              </a:tr>
            </a:tbl>
          </a:graphicData>
        </a:graphic>
      </p:graphicFrame>
      <p:sp>
        <p:nvSpPr>
          <p:cNvPr id="5" name="Text 2"/>
          <p:cNvSpPr txBox="1"/>
          <p:nvPr/>
        </p:nvSpPr>
        <p:spPr>
          <a:xfrm>
            <a:off x="548640" y="5760720"/>
            <a:ext cx="7315200" cy="320040"/>
          </a:xfrm>
          <a:prstGeom prst="rect">
            <a:avLst/>
          </a:prstGeom>
          <a:noFill/>
          <a:ln/>
        </p:spPr>
        <p:txBody>
          <a:bodyPr wrap="square" lIns="0" tIns="0" rIns="0" bIns="0" rtlCol="0" anchor="ctr"/>
          <a:lstStyle/>
          <a:p>
            <a:pPr indent="0" marL="0">
              <a:buNone/>
            </a:pPr>
            <a:r>
              <a:rPr lang="en-US" sz="1300" b="1" dirty="0">
                <a:solidFill>
                  <a:schemeClr val="accent1"/>
                </a:solidFill>
              </a:rPr>
              <a:t>✓ vorhanden   </a:t>
            </a:r>
            <a:pPr indent="0" marL="0">
              <a:buNone/>
            </a:pPr>
            <a:r>
              <a:rPr lang="en-US" sz="1300" b="1" dirty="0">
                <a:solidFill>
                  <a:schemeClr val="accent4"/>
                </a:solidFill>
              </a:rPr>
              <a:t>– teilweise   </a:t>
            </a:r>
            <a:pPr indent="0" marL="0">
              <a:buNone/>
            </a:pPr>
            <a:r>
              <a:rPr lang="en-US" sz="1300" b="1" dirty="0">
                <a:solidFill>
                  <a:schemeClr val="accent3"/>
                </a:solidFill>
              </a:rPr>
              <a:t>✗ nicht vorhanden</a:t>
            </a:r>
            <a:endParaRPr lang="en-US" sz="13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05  ·  User Stories &amp; Demo</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AutoMedic in Aktion: 5 User Stories</a:t>
            </a:r>
            <a:endParaRPr lang="en-US" sz="3400" dirty="0"/>
          </a:p>
        </p:txBody>
      </p:sp>
      <p:sp>
        <p:nvSpPr>
          <p:cNvPr id="4" name="Shape 2"/>
          <p:cNvSpPr/>
          <p:nvPr/>
        </p:nvSpPr>
        <p:spPr>
          <a:xfrm>
            <a:off x="548640" y="1920240"/>
            <a:ext cx="2011680" cy="3566160"/>
          </a:xfrm>
          <a:prstGeom prst="roundRect">
            <a:avLst>
              <a:gd name="adj" fmla="val 5455"/>
            </a:avLst>
          </a:prstGeom>
          <a:solidFill>
            <a:schemeClr val="bg2"/>
          </a:solidFill>
          <a:ln w="12700">
            <a:solidFill>
              <a:schemeClr val="bg2"/>
            </a:solidFill>
            <a:prstDash val="solid"/>
          </a:ln>
        </p:spPr>
      </p:sp>
      <p:sp>
        <p:nvSpPr>
          <p:cNvPr id="5" name="Text 3"/>
          <p:cNvSpPr txBox="1"/>
          <p:nvPr/>
        </p:nvSpPr>
        <p:spPr>
          <a:xfrm>
            <a:off x="731520" y="2103120"/>
            <a:ext cx="457200" cy="365760"/>
          </a:xfrm>
          <a:prstGeom prst="rect">
            <a:avLst/>
          </a:prstGeom>
          <a:noFill/>
          <a:ln/>
        </p:spPr>
        <p:txBody>
          <a:bodyPr wrap="square" lIns="0" tIns="0" rIns="0" bIns="0" rtlCol="0" anchor="ctr"/>
          <a:lstStyle/>
          <a:p>
            <a:pPr indent="0" marL="0">
              <a:buNone/>
            </a:pPr>
            <a:r>
              <a:rPr lang="en-US" sz="1600" b="1" dirty="0">
                <a:solidFill>
                  <a:schemeClr val="tx2"/>
                </a:solidFill>
              </a:rPr>
              <a:t>1</a:t>
            </a:r>
            <a:endParaRPr lang="en-US" sz="1600" dirty="0"/>
          </a:p>
        </p:txBody>
      </p:sp>
      <p:sp>
        <p:nvSpPr>
          <p:cNvPr id="6" name="Shape 4"/>
          <p:cNvSpPr/>
          <p:nvPr/>
        </p:nvSpPr>
        <p:spPr>
          <a:xfrm>
            <a:off x="1051560" y="2560320"/>
            <a:ext cx="1005840" cy="100584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1323137" y="2831897"/>
            <a:ext cx="462686" cy="462686"/>
          </a:xfrm>
          <a:prstGeom prst="rect">
            <a:avLst/>
          </a:prstGeom>
        </p:spPr>
      </p:pic>
      <p:sp>
        <p:nvSpPr>
          <p:cNvPr id="8" name="Text 5"/>
          <p:cNvSpPr txBox="1"/>
          <p:nvPr/>
        </p:nvSpPr>
        <p:spPr>
          <a:xfrm>
            <a:off x="685800" y="3749040"/>
            <a:ext cx="1737360" cy="822960"/>
          </a:xfrm>
          <a:prstGeom prst="rect">
            <a:avLst/>
          </a:prstGeom>
          <a:noFill/>
          <a:ln/>
        </p:spPr>
        <p:txBody>
          <a:bodyPr wrap="square" lIns="0" tIns="0" rIns="0" bIns="0" rtlCol="0" anchor="t"/>
          <a:lstStyle/>
          <a:p>
            <a:pPr algn="ctr" indent="0" marL="0">
              <a:buNone/>
            </a:pPr>
            <a:r>
              <a:rPr lang="en-US" sz="1800" b="1" dirty="0">
                <a:solidFill>
                  <a:schemeClr val="tx1"/>
                </a:solidFill>
              </a:rPr>
              <a:t>Termin suchen &amp; buchen</a:t>
            </a:r>
            <a:endParaRPr lang="en-US" sz="1800" dirty="0"/>
          </a:p>
        </p:txBody>
      </p:sp>
      <p:sp>
        <p:nvSpPr>
          <p:cNvPr id="9" name="Text 6"/>
          <p:cNvSpPr txBox="1"/>
          <p:nvPr/>
        </p:nvSpPr>
        <p:spPr>
          <a:xfrm>
            <a:off x="685800" y="4846320"/>
            <a:ext cx="1737360" cy="365760"/>
          </a:xfrm>
          <a:prstGeom prst="rect">
            <a:avLst/>
          </a:prstGeom>
          <a:noFill/>
          <a:ln/>
        </p:spPr>
        <p:txBody>
          <a:bodyPr wrap="square" lIns="0" tIns="0" rIns="0" bIns="0" rtlCol="0" anchor="ctr"/>
          <a:lstStyle/>
          <a:p>
            <a:pPr algn="ctr" indent="0" marL="0">
              <a:buNone/>
            </a:pPr>
            <a:r>
              <a:rPr lang="en-US" sz="1500" b="1" dirty="0">
                <a:solidFill>
                  <a:schemeClr val="accent1"/>
                </a:solidFill>
              </a:rPr>
              <a:t>Patient</a:t>
            </a:r>
            <a:endParaRPr lang="en-US" sz="1500" dirty="0"/>
          </a:p>
        </p:txBody>
      </p:sp>
      <p:sp>
        <p:nvSpPr>
          <p:cNvPr id="10" name="Shape 7"/>
          <p:cNvSpPr/>
          <p:nvPr/>
        </p:nvSpPr>
        <p:spPr>
          <a:xfrm>
            <a:off x="2819324" y="1920240"/>
            <a:ext cx="2011680" cy="3566160"/>
          </a:xfrm>
          <a:prstGeom prst="roundRect">
            <a:avLst>
              <a:gd name="adj" fmla="val 5455"/>
            </a:avLst>
          </a:prstGeom>
          <a:solidFill>
            <a:schemeClr val="bg2"/>
          </a:solidFill>
          <a:ln w="12700">
            <a:solidFill>
              <a:schemeClr val="bg2"/>
            </a:solidFill>
            <a:prstDash val="solid"/>
          </a:ln>
        </p:spPr>
      </p:sp>
      <p:sp>
        <p:nvSpPr>
          <p:cNvPr id="11" name="Text 8"/>
          <p:cNvSpPr txBox="1"/>
          <p:nvPr/>
        </p:nvSpPr>
        <p:spPr>
          <a:xfrm>
            <a:off x="3002204" y="2103120"/>
            <a:ext cx="457200" cy="365760"/>
          </a:xfrm>
          <a:prstGeom prst="rect">
            <a:avLst/>
          </a:prstGeom>
          <a:noFill/>
          <a:ln/>
        </p:spPr>
        <p:txBody>
          <a:bodyPr wrap="square" lIns="0" tIns="0" rIns="0" bIns="0" rtlCol="0" anchor="ctr"/>
          <a:lstStyle/>
          <a:p>
            <a:pPr indent="0" marL="0">
              <a:buNone/>
            </a:pPr>
            <a:r>
              <a:rPr lang="en-US" sz="1600" b="1" dirty="0">
                <a:solidFill>
                  <a:schemeClr val="tx2"/>
                </a:solidFill>
              </a:rPr>
              <a:t>2</a:t>
            </a:r>
            <a:endParaRPr lang="en-US" sz="1600" dirty="0"/>
          </a:p>
        </p:txBody>
      </p:sp>
      <p:sp>
        <p:nvSpPr>
          <p:cNvPr id="12" name="Shape 9"/>
          <p:cNvSpPr/>
          <p:nvPr/>
        </p:nvSpPr>
        <p:spPr>
          <a:xfrm>
            <a:off x="3322244" y="2560320"/>
            <a:ext cx="1005840" cy="100584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3593821" y="2831897"/>
            <a:ext cx="462686" cy="462686"/>
          </a:xfrm>
          <a:prstGeom prst="rect">
            <a:avLst/>
          </a:prstGeom>
        </p:spPr>
      </p:pic>
      <p:sp>
        <p:nvSpPr>
          <p:cNvPr id="14" name="Text 10"/>
          <p:cNvSpPr txBox="1"/>
          <p:nvPr/>
        </p:nvSpPr>
        <p:spPr>
          <a:xfrm>
            <a:off x="2956484" y="3749040"/>
            <a:ext cx="1737360" cy="822960"/>
          </a:xfrm>
          <a:prstGeom prst="rect">
            <a:avLst/>
          </a:prstGeom>
          <a:noFill/>
          <a:ln/>
        </p:spPr>
        <p:txBody>
          <a:bodyPr wrap="square" lIns="0" tIns="0" rIns="0" bIns="0" rtlCol="0" anchor="t"/>
          <a:lstStyle/>
          <a:p>
            <a:pPr algn="ctr" indent="0" marL="0">
              <a:buNone/>
            </a:pPr>
            <a:r>
              <a:rPr lang="en-US" sz="1800" b="1" dirty="0">
                <a:solidFill>
                  <a:schemeClr val="tx1"/>
                </a:solidFill>
              </a:rPr>
              <a:t>Patient überweisen</a:t>
            </a:r>
            <a:endParaRPr lang="en-US" sz="1800" dirty="0"/>
          </a:p>
        </p:txBody>
      </p:sp>
      <p:sp>
        <p:nvSpPr>
          <p:cNvPr id="15" name="Text 11"/>
          <p:cNvSpPr txBox="1"/>
          <p:nvPr/>
        </p:nvSpPr>
        <p:spPr>
          <a:xfrm>
            <a:off x="2956484" y="4846320"/>
            <a:ext cx="1737360" cy="365760"/>
          </a:xfrm>
          <a:prstGeom prst="rect">
            <a:avLst/>
          </a:prstGeom>
          <a:noFill/>
          <a:ln/>
        </p:spPr>
        <p:txBody>
          <a:bodyPr wrap="square" lIns="0" tIns="0" rIns="0" bIns="0" rtlCol="0" anchor="ctr"/>
          <a:lstStyle/>
          <a:p>
            <a:pPr algn="ctr" indent="0" marL="0">
              <a:buNone/>
            </a:pPr>
            <a:r>
              <a:rPr lang="en-US" sz="1500" b="1" dirty="0">
                <a:solidFill>
                  <a:schemeClr val="accent1"/>
                </a:solidFill>
              </a:rPr>
              <a:t>Hausarzt</a:t>
            </a:r>
            <a:endParaRPr lang="en-US" sz="1500" dirty="0"/>
          </a:p>
        </p:txBody>
      </p:sp>
      <p:sp>
        <p:nvSpPr>
          <p:cNvPr id="16" name="Shape 12"/>
          <p:cNvSpPr/>
          <p:nvPr/>
        </p:nvSpPr>
        <p:spPr>
          <a:xfrm>
            <a:off x="5090008" y="1920240"/>
            <a:ext cx="2011680" cy="3566160"/>
          </a:xfrm>
          <a:prstGeom prst="roundRect">
            <a:avLst>
              <a:gd name="adj" fmla="val 5455"/>
            </a:avLst>
          </a:prstGeom>
          <a:solidFill>
            <a:schemeClr val="bg2"/>
          </a:solidFill>
          <a:ln w="12700">
            <a:solidFill>
              <a:schemeClr val="bg2"/>
            </a:solidFill>
            <a:prstDash val="solid"/>
          </a:ln>
        </p:spPr>
      </p:sp>
      <p:sp>
        <p:nvSpPr>
          <p:cNvPr id="17" name="Text 13"/>
          <p:cNvSpPr txBox="1"/>
          <p:nvPr/>
        </p:nvSpPr>
        <p:spPr>
          <a:xfrm>
            <a:off x="5272888" y="2103120"/>
            <a:ext cx="457200" cy="365760"/>
          </a:xfrm>
          <a:prstGeom prst="rect">
            <a:avLst/>
          </a:prstGeom>
          <a:noFill/>
          <a:ln/>
        </p:spPr>
        <p:txBody>
          <a:bodyPr wrap="square" lIns="0" tIns="0" rIns="0" bIns="0" rtlCol="0" anchor="ctr"/>
          <a:lstStyle/>
          <a:p>
            <a:pPr indent="0" marL="0">
              <a:buNone/>
            </a:pPr>
            <a:r>
              <a:rPr lang="en-US" sz="1600" b="1" dirty="0">
                <a:solidFill>
                  <a:schemeClr val="tx2"/>
                </a:solidFill>
              </a:rPr>
              <a:t>3</a:t>
            </a:r>
            <a:endParaRPr lang="en-US" sz="1600" dirty="0"/>
          </a:p>
        </p:txBody>
      </p:sp>
      <p:sp>
        <p:nvSpPr>
          <p:cNvPr id="18" name="Shape 14"/>
          <p:cNvSpPr/>
          <p:nvPr/>
        </p:nvSpPr>
        <p:spPr>
          <a:xfrm>
            <a:off x="5592928" y="2560320"/>
            <a:ext cx="1005840" cy="100584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5864504" y="2831897"/>
            <a:ext cx="462686" cy="462686"/>
          </a:xfrm>
          <a:prstGeom prst="rect">
            <a:avLst/>
          </a:prstGeom>
        </p:spPr>
      </p:pic>
      <p:sp>
        <p:nvSpPr>
          <p:cNvPr id="20" name="Text 15"/>
          <p:cNvSpPr txBox="1"/>
          <p:nvPr/>
        </p:nvSpPr>
        <p:spPr>
          <a:xfrm>
            <a:off x="5227168" y="3749040"/>
            <a:ext cx="1737360" cy="822960"/>
          </a:xfrm>
          <a:prstGeom prst="rect">
            <a:avLst/>
          </a:prstGeom>
          <a:noFill/>
          <a:ln/>
        </p:spPr>
        <p:txBody>
          <a:bodyPr wrap="square" lIns="0" tIns="0" rIns="0" bIns="0" rtlCol="0" anchor="t"/>
          <a:lstStyle/>
          <a:p>
            <a:pPr algn="ctr" indent="0" marL="0">
              <a:buNone/>
            </a:pPr>
            <a:r>
              <a:rPr lang="en-US" sz="1800" b="1" dirty="0">
                <a:solidFill>
                  <a:schemeClr val="tx1"/>
                </a:solidFill>
              </a:rPr>
              <a:t>Post-Termin</a:t>
            </a:r>
            <a:endParaRPr lang="en-US" sz="1800" dirty="0"/>
          </a:p>
        </p:txBody>
      </p:sp>
      <p:sp>
        <p:nvSpPr>
          <p:cNvPr id="21" name="Text 16"/>
          <p:cNvSpPr txBox="1"/>
          <p:nvPr/>
        </p:nvSpPr>
        <p:spPr>
          <a:xfrm>
            <a:off x="5227168" y="4846320"/>
            <a:ext cx="1737360" cy="365760"/>
          </a:xfrm>
          <a:prstGeom prst="rect">
            <a:avLst/>
          </a:prstGeom>
          <a:noFill/>
          <a:ln/>
        </p:spPr>
        <p:txBody>
          <a:bodyPr wrap="square" lIns="0" tIns="0" rIns="0" bIns="0" rtlCol="0" anchor="ctr"/>
          <a:lstStyle/>
          <a:p>
            <a:pPr algn="ctr" indent="0" marL="0">
              <a:buNone/>
            </a:pPr>
            <a:r>
              <a:rPr lang="en-US" sz="1500" b="1" dirty="0">
                <a:solidFill>
                  <a:schemeClr val="accent1"/>
                </a:solidFill>
              </a:rPr>
              <a:t>Arzt</a:t>
            </a:r>
            <a:endParaRPr lang="en-US" sz="1500" dirty="0"/>
          </a:p>
        </p:txBody>
      </p:sp>
      <p:sp>
        <p:nvSpPr>
          <p:cNvPr id="22" name="Shape 17"/>
          <p:cNvSpPr/>
          <p:nvPr/>
        </p:nvSpPr>
        <p:spPr>
          <a:xfrm>
            <a:off x="7360691" y="1920240"/>
            <a:ext cx="2011680" cy="3566160"/>
          </a:xfrm>
          <a:prstGeom prst="roundRect">
            <a:avLst>
              <a:gd name="adj" fmla="val 5455"/>
            </a:avLst>
          </a:prstGeom>
          <a:solidFill>
            <a:schemeClr val="bg2"/>
          </a:solidFill>
          <a:ln w="12700">
            <a:solidFill>
              <a:schemeClr val="bg2"/>
            </a:solidFill>
            <a:prstDash val="solid"/>
          </a:ln>
        </p:spPr>
      </p:sp>
      <p:sp>
        <p:nvSpPr>
          <p:cNvPr id="23" name="Text 18"/>
          <p:cNvSpPr txBox="1"/>
          <p:nvPr/>
        </p:nvSpPr>
        <p:spPr>
          <a:xfrm>
            <a:off x="7543571" y="2103120"/>
            <a:ext cx="457200" cy="365760"/>
          </a:xfrm>
          <a:prstGeom prst="rect">
            <a:avLst/>
          </a:prstGeom>
          <a:noFill/>
          <a:ln/>
        </p:spPr>
        <p:txBody>
          <a:bodyPr wrap="square" lIns="0" tIns="0" rIns="0" bIns="0" rtlCol="0" anchor="ctr"/>
          <a:lstStyle/>
          <a:p>
            <a:pPr indent="0" marL="0">
              <a:buNone/>
            </a:pPr>
            <a:r>
              <a:rPr lang="en-US" sz="1600" b="1" dirty="0">
                <a:solidFill>
                  <a:schemeClr val="tx2"/>
                </a:solidFill>
              </a:rPr>
              <a:t>4</a:t>
            </a:r>
            <a:endParaRPr lang="en-US" sz="1600" dirty="0"/>
          </a:p>
        </p:txBody>
      </p:sp>
      <p:sp>
        <p:nvSpPr>
          <p:cNvPr id="24" name="Shape 19"/>
          <p:cNvSpPr/>
          <p:nvPr/>
        </p:nvSpPr>
        <p:spPr>
          <a:xfrm>
            <a:off x="7863611" y="2560320"/>
            <a:ext cx="1005840" cy="1005840"/>
          </a:xfrm>
          <a:prstGeom prst="ellipse">
            <a:avLst/>
          </a:prstGeom>
          <a:solidFill>
            <a:schemeClr val="accent1"/>
          </a:solidFill>
          <a:ln w="12700">
            <a:solidFill>
              <a:schemeClr val="accent1"/>
            </a:solidFill>
            <a:prstDash val="solid"/>
          </a:ln>
        </p:spPr>
      </p:sp>
      <p:pic>
        <p:nvPicPr>
          <p:cNvPr id="25" name="Image 3" descr="preencoded.png">    </p:cNvPr>
          <p:cNvPicPr>
            <a:picLocks noChangeAspect="1"/>
          </p:cNvPicPr>
          <p:nvPr/>
        </p:nvPicPr>
        <p:blipFill>
          <a:blip r:embed="rId4"/>
          <a:stretch>
            <a:fillRect/>
          </a:stretch>
        </p:blipFill>
        <p:spPr>
          <a:xfrm>
            <a:off x="8135188" y="2831897"/>
            <a:ext cx="462686" cy="462686"/>
          </a:xfrm>
          <a:prstGeom prst="rect">
            <a:avLst/>
          </a:prstGeom>
        </p:spPr>
      </p:pic>
      <p:sp>
        <p:nvSpPr>
          <p:cNvPr id="26" name="Text 20"/>
          <p:cNvSpPr txBox="1"/>
          <p:nvPr/>
        </p:nvSpPr>
        <p:spPr>
          <a:xfrm>
            <a:off x="7497851" y="3749040"/>
            <a:ext cx="1737360" cy="822960"/>
          </a:xfrm>
          <a:prstGeom prst="rect">
            <a:avLst/>
          </a:prstGeom>
          <a:noFill/>
          <a:ln/>
        </p:spPr>
        <p:txBody>
          <a:bodyPr wrap="square" lIns="0" tIns="0" rIns="0" bIns="0" rtlCol="0" anchor="t"/>
          <a:lstStyle/>
          <a:p>
            <a:pPr algn="ctr" indent="0" marL="0">
              <a:buNone/>
            </a:pPr>
            <a:r>
              <a:rPr lang="en-US" sz="1800" b="1" dirty="0">
                <a:solidFill>
                  <a:schemeClr val="tx1"/>
                </a:solidFill>
              </a:rPr>
              <a:t>Apotheke suchen</a:t>
            </a:r>
            <a:endParaRPr lang="en-US" sz="1800" dirty="0"/>
          </a:p>
        </p:txBody>
      </p:sp>
      <p:sp>
        <p:nvSpPr>
          <p:cNvPr id="27" name="Text 21"/>
          <p:cNvSpPr txBox="1"/>
          <p:nvPr/>
        </p:nvSpPr>
        <p:spPr>
          <a:xfrm>
            <a:off x="7497851" y="4846320"/>
            <a:ext cx="1737360" cy="365760"/>
          </a:xfrm>
          <a:prstGeom prst="rect">
            <a:avLst/>
          </a:prstGeom>
          <a:noFill/>
          <a:ln/>
        </p:spPr>
        <p:txBody>
          <a:bodyPr wrap="square" lIns="0" tIns="0" rIns="0" bIns="0" rtlCol="0" anchor="ctr"/>
          <a:lstStyle/>
          <a:p>
            <a:pPr algn="ctr" indent="0" marL="0">
              <a:buNone/>
            </a:pPr>
            <a:r>
              <a:rPr lang="en-US" sz="1500" b="1" dirty="0">
                <a:solidFill>
                  <a:schemeClr val="accent1"/>
                </a:solidFill>
              </a:rPr>
              <a:t>Patient</a:t>
            </a:r>
            <a:endParaRPr lang="en-US" sz="1500" dirty="0"/>
          </a:p>
        </p:txBody>
      </p:sp>
      <p:sp>
        <p:nvSpPr>
          <p:cNvPr id="28" name="Shape 22"/>
          <p:cNvSpPr/>
          <p:nvPr/>
        </p:nvSpPr>
        <p:spPr>
          <a:xfrm>
            <a:off x="9631375" y="1920240"/>
            <a:ext cx="2011680" cy="3566160"/>
          </a:xfrm>
          <a:prstGeom prst="roundRect">
            <a:avLst>
              <a:gd name="adj" fmla="val 5455"/>
            </a:avLst>
          </a:prstGeom>
          <a:solidFill>
            <a:schemeClr val="bg2"/>
          </a:solidFill>
          <a:ln w="12700">
            <a:solidFill>
              <a:schemeClr val="bg2"/>
            </a:solidFill>
            <a:prstDash val="solid"/>
          </a:ln>
        </p:spPr>
      </p:sp>
      <p:sp>
        <p:nvSpPr>
          <p:cNvPr id="29" name="Text 23"/>
          <p:cNvSpPr txBox="1"/>
          <p:nvPr/>
        </p:nvSpPr>
        <p:spPr>
          <a:xfrm>
            <a:off x="9814255" y="2103120"/>
            <a:ext cx="457200" cy="365760"/>
          </a:xfrm>
          <a:prstGeom prst="rect">
            <a:avLst/>
          </a:prstGeom>
          <a:noFill/>
          <a:ln/>
        </p:spPr>
        <p:txBody>
          <a:bodyPr wrap="square" lIns="0" tIns="0" rIns="0" bIns="0" rtlCol="0" anchor="ctr"/>
          <a:lstStyle/>
          <a:p>
            <a:pPr indent="0" marL="0">
              <a:buNone/>
            </a:pPr>
            <a:r>
              <a:rPr lang="en-US" sz="1600" b="1" dirty="0">
                <a:solidFill>
                  <a:schemeClr val="tx2"/>
                </a:solidFill>
              </a:rPr>
              <a:t>5</a:t>
            </a:r>
            <a:endParaRPr lang="en-US" sz="1600" dirty="0"/>
          </a:p>
        </p:txBody>
      </p:sp>
      <p:sp>
        <p:nvSpPr>
          <p:cNvPr id="30" name="Shape 24"/>
          <p:cNvSpPr/>
          <p:nvPr/>
        </p:nvSpPr>
        <p:spPr>
          <a:xfrm>
            <a:off x="10134295" y="2560320"/>
            <a:ext cx="1005840" cy="1005840"/>
          </a:xfrm>
          <a:prstGeom prst="ellipse">
            <a:avLst/>
          </a:prstGeom>
          <a:solidFill>
            <a:schemeClr val="accent1"/>
          </a:solidFill>
          <a:ln w="12700">
            <a:solidFill>
              <a:schemeClr val="accent1"/>
            </a:solidFill>
            <a:prstDash val="solid"/>
          </a:ln>
        </p:spPr>
      </p:sp>
      <p:pic>
        <p:nvPicPr>
          <p:cNvPr id="31" name="Image 4" descr="preencoded.png">    </p:cNvPr>
          <p:cNvPicPr>
            <a:picLocks noChangeAspect="1"/>
          </p:cNvPicPr>
          <p:nvPr/>
        </p:nvPicPr>
        <p:blipFill>
          <a:blip r:embed="rId5"/>
          <a:stretch>
            <a:fillRect/>
          </a:stretch>
        </p:blipFill>
        <p:spPr>
          <a:xfrm>
            <a:off x="10405872" y="2831897"/>
            <a:ext cx="462686" cy="462686"/>
          </a:xfrm>
          <a:prstGeom prst="rect">
            <a:avLst/>
          </a:prstGeom>
        </p:spPr>
      </p:pic>
      <p:sp>
        <p:nvSpPr>
          <p:cNvPr id="32" name="Text 25"/>
          <p:cNvSpPr txBox="1"/>
          <p:nvPr/>
        </p:nvSpPr>
        <p:spPr>
          <a:xfrm>
            <a:off x="9768535" y="3749040"/>
            <a:ext cx="1737360" cy="822960"/>
          </a:xfrm>
          <a:prstGeom prst="rect">
            <a:avLst/>
          </a:prstGeom>
          <a:noFill/>
          <a:ln/>
        </p:spPr>
        <p:txBody>
          <a:bodyPr wrap="square" lIns="0" tIns="0" rIns="0" bIns="0" rtlCol="0" anchor="t"/>
          <a:lstStyle/>
          <a:p>
            <a:pPr algn="ctr" indent="0" marL="0">
              <a:buNone/>
            </a:pPr>
            <a:r>
              <a:rPr lang="en-US" sz="1800" b="1" dirty="0">
                <a:solidFill>
                  <a:schemeClr val="tx1"/>
                </a:solidFill>
              </a:rPr>
              <a:t>Registrierung</a:t>
            </a:r>
            <a:endParaRPr lang="en-US" sz="1800" dirty="0"/>
          </a:p>
        </p:txBody>
      </p:sp>
      <p:sp>
        <p:nvSpPr>
          <p:cNvPr id="33" name="Text 26"/>
          <p:cNvSpPr txBox="1"/>
          <p:nvPr/>
        </p:nvSpPr>
        <p:spPr>
          <a:xfrm>
            <a:off x="9768535" y="4846320"/>
            <a:ext cx="1737360" cy="365760"/>
          </a:xfrm>
          <a:prstGeom prst="rect">
            <a:avLst/>
          </a:prstGeom>
          <a:noFill/>
          <a:ln/>
        </p:spPr>
        <p:txBody>
          <a:bodyPr wrap="square" lIns="0" tIns="0" rIns="0" bIns="0" rtlCol="0" anchor="ctr"/>
          <a:lstStyle/>
          <a:p>
            <a:pPr algn="ctr" indent="0" marL="0">
              <a:buNone/>
            </a:pPr>
            <a:r>
              <a:rPr lang="en-US" sz="1500" b="1" dirty="0">
                <a:solidFill>
                  <a:schemeClr val="accent1"/>
                </a:solidFill>
              </a:rPr>
              <a:t>Patient</a:t>
            </a:r>
            <a:endParaRPr lang="en-US" sz="1500" dirty="0"/>
          </a:p>
        </p:txBody>
      </p:sp>
      <p:sp>
        <p:nvSpPr>
          <p:cNvPr id="34" name="Text 27"/>
          <p:cNvSpPr txBox="1"/>
          <p:nvPr/>
        </p:nvSpPr>
        <p:spPr>
          <a:xfrm>
            <a:off x="548640" y="5760720"/>
            <a:ext cx="9144000" cy="365760"/>
          </a:xfrm>
          <a:prstGeom prst="rect">
            <a:avLst/>
          </a:prstGeom>
          <a:noFill/>
          <a:ln/>
        </p:spPr>
        <p:txBody>
          <a:bodyPr wrap="square" lIns="0" tIns="0" rIns="0" bIns="0" rtlCol="0" anchor="ctr"/>
          <a:lstStyle/>
          <a:p>
            <a:pPr indent="0" marL="0">
              <a:buNone/>
            </a:pPr>
            <a:r>
              <a:rPr lang="en-US" sz="1600" i="1" dirty="0">
                <a:solidFill>
                  <a:schemeClr val="tx2"/>
                </a:solidFill>
              </a:rPr>
              <a:t>Jede Story simulieren wir live – Schritt für Schritt.</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05  ·  User Story 1 / 5</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Termin suchen &amp; buchen</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indent="0" marL="0">
              <a:buNone/>
            </a:pPr>
            <a:r>
              <a:rPr lang="en-US" sz="2100" dirty="0">
                <a:solidFill>
                  <a:schemeClr val="tx1"/>
                </a:solidFill>
              </a:rPr>
              <a:t>Als </a:t>
            </a:r>
            <a:pPr indent="0" marL="0">
              <a:buNone/>
            </a:pPr>
            <a:r>
              <a:rPr lang="en-US" sz="2100" b="1" dirty="0">
                <a:solidFill>
                  <a:schemeClr val="tx1"/>
                </a:solidFill>
              </a:rPr>
              <a:t>Patient</a:t>
            </a:r>
            <a:pPr indent="0" marL="0">
              <a:buNone/>
            </a:pPr>
            <a:r>
              <a:rPr lang="en-US" sz="2100" dirty="0">
                <a:solidFill>
                  <a:schemeClr val="tx1"/>
                </a:solidFill>
              </a:rPr>
              <a:t> möchte ich online einen freien Termin finden und direkt buchen, </a:t>
            </a:r>
            <a:pPr indent="0" marL="0">
              <a:buNone/>
            </a:pPr>
            <a:r>
              <a:rPr lang="en-US" sz="2100" dirty="0">
                <a:solidFill>
                  <a:schemeClr val="tx2"/>
                </a:solidFill>
              </a:rPr>
              <a:t>damit ich keine Zeit am Telefon verliere.</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sp>
      <p:sp>
        <p:nvSpPr>
          <p:cNvPr id="10" name="Text 7"/>
          <p:cNvSpPr txBox="1"/>
          <p:nvPr/>
        </p:nvSpPr>
        <p:spPr>
          <a:xfrm>
            <a:off x="1255746"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Fachrichtung &amp; Arzt wählen</a:t>
            </a:r>
            <a:endParaRPr lang="en-US" sz="1700" dirty="0"/>
          </a:p>
        </p:txBody>
      </p:sp>
      <p:pic>
        <p:nvPicPr>
          <p:cNvPr id="12" name="Image 1" descr="preencoded.png">    </p:cNvPr>
          <p:cNvPicPr>
            <a:picLocks noChangeAspect="1"/>
          </p:cNvPicPr>
          <p:nvPr/>
        </p:nvPicPr>
        <p:blipFill>
          <a:blip r:embed="rId2"/>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sp>
      <p:sp>
        <p:nvSpPr>
          <p:cNvPr id="15" name="Text 11"/>
          <p:cNvSpPr txBox="1"/>
          <p:nvPr/>
        </p:nvSpPr>
        <p:spPr>
          <a:xfrm>
            <a:off x="3538637"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Freien Slot auswählen</a:t>
            </a:r>
            <a:endParaRPr lang="en-US" sz="1700" dirty="0"/>
          </a:p>
        </p:txBody>
      </p:sp>
      <p:pic>
        <p:nvPicPr>
          <p:cNvPr id="17" name="Image 2" descr="preencoded.png">    </p:cNvPr>
          <p:cNvPicPr>
            <a:picLocks noChangeAspect="1"/>
          </p:cNvPicPr>
          <p:nvPr/>
        </p:nvPicPr>
        <p:blipFill>
          <a:blip r:embed="rId3"/>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sp>
      <p:sp>
        <p:nvSpPr>
          <p:cNvPr id="20" name="Text 15"/>
          <p:cNvSpPr txBox="1"/>
          <p:nvPr/>
        </p:nvSpPr>
        <p:spPr>
          <a:xfrm>
            <a:off x="5821528"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Termingrund eingeben</a:t>
            </a:r>
            <a:endParaRPr lang="en-US" sz="1700" dirty="0"/>
          </a:p>
        </p:txBody>
      </p:sp>
      <p:pic>
        <p:nvPicPr>
          <p:cNvPr id="22" name="Image 3" descr="preencoded.png">    </p:cNvPr>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sp>
      <p:sp>
        <p:nvSpPr>
          <p:cNvPr id="25" name="Text 19"/>
          <p:cNvSpPr txBox="1"/>
          <p:nvPr/>
        </p:nvSpPr>
        <p:spPr>
          <a:xfrm>
            <a:off x="8104419"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Bestätigung erhalten</a:t>
            </a:r>
            <a:endParaRPr lang="en-US" sz="1700" dirty="0"/>
          </a:p>
        </p:txBody>
      </p:sp>
      <p:pic>
        <p:nvPicPr>
          <p:cNvPr id="27" name="Image 4" descr="preencoded.png">    </p:cNvPr>
          <p:cNvPicPr>
            <a:picLocks noChangeAspect="1"/>
          </p:cNvPicPr>
          <p:nvPr/>
        </p:nvPicPr>
        <p:blipFill>
          <a:blip r:embed="rId5"/>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sp>
      <p:sp>
        <p:nvSpPr>
          <p:cNvPr id="30" name="Text 23"/>
          <p:cNvSpPr txBox="1"/>
          <p:nvPr/>
        </p:nvSpPr>
        <p:spPr>
          <a:xfrm>
            <a:off x="1038731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Praxis wird informiert</a:t>
            </a:r>
            <a:endParaRPr lang="en-US" sz="17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05  ·  User Story 2 / 5</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Patient überweisen</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indent="0" marL="0">
              <a:buNone/>
            </a:pPr>
            <a:r>
              <a:rPr lang="en-US" sz="2100" dirty="0">
                <a:solidFill>
                  <a:schemeClr val="tx1"/>
                </a:solidFill>
              </a:rPr>
              <a:t>Als </a:t>
            </a:r>
            <a:pPr indent="0" marL="0">
              <a:buNone/>
            </a:pPr>
            <a:r>
              <a:rPr lang="en-US" sz="2100" b="1" dirty="0">
                <a:solidFill>
                  <a:schemeClr val="tx1"/>
                </a:solidFill>
              </a:rPr>
              <a:t>Hausarzt</a:t>
            </a:r>
            <a:pPr indent="0" marL="0">
              <a:buNone/>
            </a:pPr>
            <a:r>
              <a:rPr lang="en-US" sz="2100" dirty="0">
                <a:solidFill>
                  <a:schemeClr val="tx1"/>
                </a:solidFill>
              </a:rPr>
              <a:t> möchte ich einen Patienten digital überweisen und direkt einen Facharzttermin vermitteln lassen, </a:t>
            </a:r>
            <a:pPr indent="0" marL="0">
              <a:buNone/>
            </a:pPr>
            <a:r>
              <a:rPr lang="en-US" sz="2100" dirty="0">
                <a:solidFill>
                  <a:schemeClr val="tx2"/>
                </a:solidFill>
              </a:rPr>
              <a:t>damit der Patient nahtlos weiterversorgt wird.</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sp>
      <p:sp>
        <p:nvSpPr>
          <p:cNvPr id="10" name="Text 7"/>
          <p:cNvSpPr txBox="1"/>
          <p:nvPr/>
        </p:nvSpPr>
        <p:spPr>
          <a:xfrm>
            <a:off x="1255746"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Diagnose &amp; Fachrichtung erfassen</a:t>
            </a:r>
            <a:endParaRPr lang="en-US" sz="1700" dirty="0"/>
          </a:p>
        </p:txBody>
      </p:sp>
      <p:pic>
        <p:nvPicPr>
          <p:cNvPr id="12" name="Image 1" descr="preencoded.png">    </p:cNvPr>
          <p:cNvPicPr>
            <a:picLocks noChangeAspect="1"/>
          </p:cNvPicPr>
          <p:nvPr/>
        </p:nvPicPr>
        <p:blipFill>
          <a:blip r:embed="rId2"/>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sp>
      <p:sp>
        <p:nvSpPr>
          <p:cNvPr id="15" name="Text 11"/>
          <p:cNvSpPr txBox="1"/>
          <p:nvPr/>
        </p:nvSpPr>
        <p:spPr>
          <a:xfrm>
            <a:off x="3538637"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Fachärzte im Umkreis finden</a:t>
            </a:r>
            <a:endParaRPr lang="en-US" sz="1700" dirty="0"/>
          </a:p>
        </p:txBody>
      </p:sp>
      <p:pic>
        <p:nvPicPr>
          <p:cNvPr id="17" name="Image 2" descr="preencoded.png">    </p:cNvPr>
          <p:cNvPicPr>
            <a:picLocks noChangeAspect="1"/>
          </p:cNvPicPr>
          <p:nvPr/>
        </p:nvPicPr>
        <p:blipFill>
          <a:blip r:embed="rId3"/>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sp>
      <p:sp>
        <p:nvSpPr>
          <p:cNvPr id="20" name="Text 15"/>
          <p:cNvSpPr txBox="1"/>
          <p:nvPr/>
        </p:nvSpPr>
        <p:spPr>
          <a:xfrm>
            <a:off x="5821528"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Patient wählt Termin</a:t>
            </a:r>
            <a:endParaRPr lang="en-US" sz="1700" dirty="0"/>
          </a:p>
        </p:txBody>
      </p:sp>
      <p:pic>
        <p:nvPicPr>
          <p:cNvPr id="22" name="Image 3" descr="preencoded.png">    </p:cNvPr>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sp>
      <p:sp>
        <p:nvSpPr>
          <p:cNvPr id="25" name="Text 19"/>
          <p:cNvSpPr txBox="1"/>
          <p:nvPr/>
        </p:nvSpPr>
        <p:spPr>
          <a:xfrm>
            <a:off x="8104419"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Facharzt wird informiert</a:t>
            </a:r>
            <a:endParaRPr lang="en-US" sz="1700" dirty="0"/>
          </a:p>
        </p:txBody>
      </p:sp>
      <p:pic>
        <p:nvPicPr>
          <p:cNvPr id="27" name="Image 4" descr="preencoded.png">    </p:cNvPr>
          <p:cNvPicPr>
            <a:picLocks noChangeAspect="1"/>
          </p:cNvPicPr>
          <p:nvPr/>
        </p:nvPicPr>
        <p:blipFill>
          <a:blip r:embed="rId5"/>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sp>
      <p:sp>
        <p:nvSpPr>
          <p:cNvPr id="30" name="Text 23"/>
          <p:cNvSpPr txBox="1"/>
          <p:nvPr/>
        </p:nvSpPr>
        <p:spPr>
          <a:xfrm>
            <a:off x="1038731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Status an Hausarzt</a:t>
            </a:r>
            <a:endParaRPr lang="en-US" sz="17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05  ·  User Story 3 / 5</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Post-Termin: Behandlung &amp; Rezept</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indent="0" marL="0">
              <a:buNone/>
            </a:pPr>
            <a:r>
              <a:rPr lang="en-US" sz="2100" dirty="0">
                <a:solidFill>
                  <a:schemeClr val="tx1"/>
                </a:solidFill>
              </a:rPr>
              <a:t>Als </a:t>
            </a:r>
            <a:pPr indent="0" marL="0">
              <a:buNone/>
            </a:pPr>
            <a:r>
              <a:rPr lang="en-US" sz="2100" b="1" dirty="0">
                <a:solidFill>
                  <a:schemeClr val="tx1"/>
                </a:solidFill>
              </a:rPr>
              <a:t>Arzt</a:t>
            </a:r>
            <a:pPr indent="0" marL="0">
              <a:buNone/>
            </a:pPr>
            <a:r>
              <a:rPr lang="en-US" sz="2100" dirty="0">
                <a:solidFill>
                  <a:schemeClr val="tx1"/>
                </a:solidFill>
              </a:rPr>
              <a:t> möchte ich Diagnose, Rezept und Folgetermin digital dokumentieren und versenden, </a:t>
            </a:r>
            <a:pPr indent="0" marL="0">
              <a:buNone/>
            </a:pPr>
            <a:r>
              <a:rPr lang="en-US" sz="2100" dirty="0">
                <a:solidFill>
                  <a:schemeClr val="tx2"/>
                </a:solidFill>
              </a:rPr>
              <a:t>damit der Patient alles sofort digital erhält.</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sp>
      <p:sp>
        <p:nvSpPr>
          <p:cNvPr id="10" name="Text 7"/>
          <p:cNvSpPr txBox="1"/>
          <p:nvPr/>
        </p:nvSpPr>
        <p:spPr>
          <a:xfrm>
            <a:off x="1255746"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Diagnose dokumentieren</a:t>
            </a:r>
            <a:endParaRPr lang="en-US" sz="1700" dirty="0"/>
          </a:p>
        </p:txBody>
      </p:sp>
      <p:pic>
        <p:nvPicPr>
          <p:cNvPr id="12" name="Image 1" descr="preencoded.png">    </p:cNvPr>
          <p:cNvPicPr>
            <a:picLocks noChangeAspect="1"/>
          </p:cNvPicPr>
          <p:nvPr/>
        </p:nvPicPr>
        <p:blipFill>
          <a:blip r:embed="rId2"/>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sp>
      <p:sp>
        <p:nvSpPr>
          <p:cNvPr id="15" name="Text 11"/>
          <p:cNvSpPr txBox="1"/>
          <p:nvPr/>
        </p:nvSpPr>
        <p:spPr>
          <a:xfrm>
            <a:off x="3538637"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Akte wird aktualisiert</a:t>
            </a:r>
            <a:endParaRPr lang="en-US" sz="1700" dirty="0"/>
          </a:p>
        </p:txBody>
      </p:sp>
      <p:pic>
        <p:nvPicPr>
          <p:cNvPr id="17" name="Image 2" descr="preencoded.png">    </p:cNvPr>
          <p:cNvPicPr>
            <a:picLocks noChangeAspect="1"/>
          </p:cNvPicPr>
          <p:nvPr/>
        </p:nvPicPr>
        <p:blipFill>
          <a:blip r:embed="rId3"/>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sp>
      <p:sp>
        <p:nvSpPr>
          <p:cNvPr id="20" name="Text 15"/>
          <p:cNvSpPr txBox="1"/>
          <p:nvPr/>
        </p:nvSpPr>
        <p:spPr>
          <a:xfrm>
            <a:off x="5821528"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Rezept signieren &amp; freigeben</a:t>
            </a:r>
            <a:endParaRPr lang="en-US" sz="1700" dirty="0"/>
          </a:p>
        </p:txBody>
      </p:sp>
      <p:pic>
        <p:nvPicPr>
          <p:cNvPr id="22" name="Image 3" descr="preencoded.png">    </p:cNvPr>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sp>
      <p:sp>
        <p:nvSpPr>
          <p:cNvPr id="25" name="Text 19"/>
          <p:cNvSpPr txBox="1"/>
          <p:nvPr/>
        </p:nvSpPr>
        <p:spPr>
          <a:xfrm>
            <a:off x="8104419"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Folgetermin anordnen</a:t>
            </a:r>
            <a:endParaRPr lang="en-US" sz="1700" dirty="0"/>
          </a:p>
        </p:txBody>
      </p:sp>
      <p:pic>
        <p:nvPicPr>
          <p:cNvPr id="27" name="Image 4" descr="preencoded.png">    </p:cNvPr>
          <p:cNvPicPr>
            <a:picLocks noChangeAspect="1"/>
          </p:cNvPicPr>
          <p:nvPr/>
        </p:nvPicPr>
        <p:blipFill>
          <a:blip r:embed="rId5"/>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sp>
      <p:sp>
        <p:nvSpPr>
          <p:cNvPr id="30" name="Text 23"/>
          <p:cNvSpPr txBox="1"/>
          <p:nvPr/>
        </p:nvSpPr>
        <p:spPr>
          <a:xfrm>
            <a:off x="1038731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Zusammenfassung an Patient</a:t>
            </a:r>
            <a:endParaRPr lang="en-US" sz="17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05  ·  User Story 4 / 5</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Apotheke suchen</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indent="0" marL="0">
              <a:buNone/>
            </a:pPr>
            <a:r>
              <a:rPr lang="en-US" sz="2100" dirty="0">
                <a:solidFill>
                  <a:schemeClr val="tx1"/>
                </a:solidFill>
              </a:rPr>
              <a:t>Als </a:t>
            </a:r>
            <a:pPr indent="0" marL="0">
              <a:buNone/>
            </a:pPr>
            <a:r>
              <a:rPr lang="en-US" sz="2100" b="1" dirty="0">
                <a:solidFill>
                  <a:schemeClr val="tx1"/>
                </a:solidFill>
              </a:rPr>
              <a:t>Patient</a:t>
            </a:r>
            <a:pPr indent="0" marL="0">
              <a:buNone/>
            </a:pPr>
            <a:r>
              <a:rPr lang="en-US" sz="2100" dirty="0">
                <a:solidFill>
                  <a:schemeClr val="tx1"/>
                </a:solidFill>
              </a:rPr>
              <a:t> möchte ich eine Apotheke in der Nähe finden, die mein Medikament vorrätig hat, und es reservieren, </a:t>
            </a:r>
            <a:pPr indent="0" marL="0">
              <a:buNone/>
            </a:pPr>
            <a:r>
              <a:rPr lang="en-US" sz="2100" dirty="0">
                <a:solidFill>
                  <a:schemeClr val="tx2"/>
                </a:solidFill>
              </a:rPr>
              <a:t>damit ich keine unnötigen Wege mache.</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sp>
      <p:sp>
        <p:nvSpPr>
          <p:cNvPr id="10" name="Text 7"/>
          <p:cNvSpPr txBox="1"/>
          <p:nvPr/>
        </p:nvSpPr>
        <p:spPr>
          <a:xfrm>
            <a:off x="1255746"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Medikament &amp; Standort eingeben</a:t>
            </a:r>
            <a:endParaRPr lang="en-US" sz="1700" dirty="0"/>
          </a:p>
        </p:txBody>
      </p:sp>
      <p:pic>
        <p:nvPicPr>
          <p:cNvPr id="12" name="Image 1" descr="preencoded.png">    </p:cNvPr>
          <p:cNvPicPr>
            <a:picLocks noChangeAspect="1"/>
          </p:cNvPicPr>
          <p:nvPr/>
        </p:nvPicPr>
        <p:blipFill>
          <a:blip r:embed="rId2"/>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sp>
      <p:sp>
        <p:nvSpPr>
          <p:cNvPr id="15" name="Text 11"/>
          <p:cNvSpPr txBox="1"/>
          <p:nvPr/>
        </p:nvSpPr>
        <p:spPr>
          <a:xfrm>
            <a:off x="3538637"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Apotheken mit Verfügbarkeit</a:t>
            </a:r>
            <a:endParaRPr lang="en-US" sz="1700" dirty="0"/>
          </a:p>
        </p:txBody>
      </p:sp>
      <p:pic>
        <p:nvPicPr>
          <p:cNvPr id="17" name="Image 2" descr="preencoded.png">    </p:cNvPr>
          <p:cNvPicPr>
            <a:picLocks noChangeAspect="1"/>
          </p:cNvPicPr>
          <p:nvPr/>
        </p:nvPicPr>
        <p:blipFill>
          <a:blip r:embed="rId3"/>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sp>
      <p:sp>
        <p:nvSpPr>
          <p:cNvPr id="20" name="Text 15"/>
          <p:cNvSpPr txBox="1"/>
          <p:nvPr/>
        </p:nvSpPr>
        <p:spPr>
          <a:xfrm>
            <a:off x="5821528"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Details ansehen</a:t>
            </a:r>
            <a:endParaRPr lang="en-US" sz="1700" dirty="0"/>
          </a:p>
        </p:txBody>
      </p:sp>
      <p:pic>
        <p:nvPicPr>
          <p:cNvPr id="22" name="Image 3" descr="preencoded.png">    </p:cNvPr>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sp>
      <p:sp>
        <p:nvSpPr>
          <p:cNvPr id="25" name="Text 19"/>
          <p:cNvSpPr txBox="1"/>
          <p:nvPr/>
        </p:nvSpPr>
        <p:spPr>
          <a:xfrm>
            <a:off x="8104419"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Optional reservieren</a:t>
            </a:r>
            <a:endParaRPr lang="en-US" sz="1700" dirty="0"/>
          </a:p>
        </p:txBody>
      </p:sp>
      <p:pic>
        <p:nvPicPr>
          <p:cNvPr id="27" name="Image 4" descr="preencoded.png">    </p:cNvPr>
          <p:cNvPicPr>
            <a:picLocks noChangeAspect="1"/>
          </p:cNvPicPr>
          <p:nvPr/>
        </p:nvPicPr>
        <p:blipFill>
          <a:blip r:embed="rId5"/>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sp>
      <p:sp>
        <p:nvSpPr>
          <p:cNvPr id="30" name="Text 23"/>
          <p:cNvSpPr txBox="1"/>
          <p:nvPr/>
        </p:nvSpPr>
        <p:spPr>
          <a:xfrm>
            <a:off x="1038731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Bestätigung erhalten</a:t>
            </a:r>
            <a:endParaRPr lang="en-US" sz="1700" dirty="0"/>
          </a:p>
        </p:txBody>
      </p:sp>
      <p:sp>
        <p:nvSpPr>
          <p:cNvPr id="32" name="Text 25"/>
          <p:cNvSpPr txBox="1"/>
          <p:nvPr/>
        </p:nvSpPr>
        <p:spPr>
          <a:xfrm>
            <a:off x="548640" y="5760720"/>
            <a:ext cx="9144000" cy="365760"/>
          </a:xfrm>
          <a:prstGeom prst="rect">
            <a:avLst/>
          </a:prstGeom>
          <a:noFill/>
          <a:ln/>
        </p:spPr>
        <p:txBody>
          <a:bodyPr wrap="square" lIns="0" tIns="0" rIns="0" bIns="0" rtlCol="0" anchor="ctr"/>
          <a:lstStyle/>
          <a:p>
            <a:pPr indent="0" marL="0">
              <a:buNone/>
            </a:pPr>
            <a:r>
              <a:rPr lang="en-US" sz="1500" b="1" dirty="0">
                <a:solidFill>
                  <a:schemeClr val="accent4"/>
                </a:solidFill>
              </a:rPr>
              <a:t>Alternativer Ablauf:  </a:t>
            </a:r>
            <a:pPr indent="0" marL="0">
              <a:buNone/>
            </a:pPr>
            <a:r>
              <a:rPr lang="en-US" sz="1500" dirty="0">
                <a:solidFill>
                  <a:schemeClr val="tx2"/>
                </a:solidFill>
              </a:rPr>
              <a:t>Kein Treffer → Hinweis an den Patienten</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05  ·  User Story 5 / 5</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Patientenregistrierung</a:t>
            </a:r>
            <a:endParaRPr lang="en-US" sz="3400" dirty="0"/>
          </a:p>
        </p:txBody>
      </p:sp>
      <p:sp>
        <p:nvSpPr>
          <p:cNvPr id="4" name="Shape 2"/>
          <p:cNvSpPr/>
          <p:nvPr/>
        </p:nvSpPr>
        <p:spPr>
          <a:xfrm>
            <a:off x="548640" y="1691640"/>
            <a:ext cx="11094415" cy="1417320"/>
          </a:xfrm>
          <a:prstGeom prst="roundRect">
            <a:avLst>
              <a:gd name="adj" fmla="val 7742"/>
            </a:avLst>
          </a:prstGeom>
          <a:solidFill>
            <a:schemeClr val="accent2"/>
          </a:solidFill>
          <a:ln w="12700">
            <a:solidFill>
              <a:schemeClr val="accent2"/>
            </a:solidFill>
            <a:prstDash val="solid"/>
          </a:ln>
        </p:spPr>
      </p:sp>
      <p:sp>
        <p:nvSpPr>
          <p:cNvPr id="5" name="Shape 3"/>
          <p:cNvSpPr/>
          <p:nvPr/>
        </p:nvSpPr>
        <p:spPr>
          <a:xfrm>
            <a:off x="868680" y="1947672"/>
            <a:ext cx="914400" cy="914400"/>
          </a:xfrm>
          <a:prstGeom prst="ellipse">
            <a:avLst/>
          </a:prstGeom>
          <a:solidFill>
            <a:schemeClr val="tx1"/>
          </a:solidFill>
          <a:ln w="12700">
            <a:solidFill>
              <a:schemeClr val="tx1"/>
            </a:solidFill>
            <a:prstDash val="solid"/>
          </a:ln>
        </p:spPr>
      </p:sp>
      <p:pic>
        <p:nvPicPr>
          <p:cNvPr id="6" name="Image 0" descr="preencoded.png">    </p:cNvPr>
          <p:cNvPicPr>
            <a:picLocks noChangeAspect="1"/>
          </p:cNvPicPr>
          <p:nvPr/>
        </p:nvPicPr>
        <p:blipFill>
          <a:blip r:embed="rId1"/>
          <a:stretch>
            <a:fillRect/>
          </a:stretch>
        </p:blipFill>
        <p:spPr>
          <a:xfrm>
            <a:off x="1115568" y="2194560"/>
            <a:ext cx="420624" cy="420624"/>
          </a:xfrm>
          <a:prstGeom prst="rect">
            <a:avLst/>
          </a:prstGeom>
        </p:spPr>
      </p:pic>
      <p:sp>
        <p:nvSpPr>
          <p:cNvPr id="7" name="Text 4"/>
          <p:cNvSpPr txBox="1"/>
          <p:nvPr/>
        </p:nvSpPr>
        <p:spPr>
          <a:xfrm>
            <a:off x="2057400" y="1691640"/>
            <a:ext cx="9265615" cy="1417320"/>
          </a:xfrm>
          <a:prstGeom prst="rect">
            <a:avLst/>
          </a:prstGeom>
          <a:noFill/>
          <a:ln/>
        </p:spPr>
        <p:txBody>
          <a:bodyPr wrap="square" lIns="0" tIns="0" rIns="0" bIns="0" rtlCol="0" anchor="ctr"/>
          <a:lstStyle/>
          <a:p>
            <a:pPr indent="0" marL="0">
              <a:buNone/>
            </a:pPr>
            <a:r>
              <a:rPr lang="en-US" sz="2100" dirty="0">
                <a:solidFill>
                  <a:schemeClr val="tx1"/>
                </a:solidFill>
              </a:rPr>
              <a:t>Als </a:t>
            </a:r>
            <a:pPr indent="0" marL="0">
              <a:buNone/>
            </a:pPr>
            <a:r>
              <a:rPr lang="en-US" sz="2100" b="1" dirty="0">
                <a:solidFill>
                  <a:schemeClr val="tx1"/>
                </a:solidFill>
              </a:rPr>
              <a:t>Patient</a:t>
            </a:r>
            <a:pPr indent="0" marL="0">
              <a:buNone/>
            </a:pPr>
            <a:r>
              <a:rPr lang="en-US" sz="2100" dirty="0">
                <a:solidFill>
                  <a:schemeClr val="tx1"/>
                </a:solidFill>
              </a:rPr>
              <a:t> möchte ich mich einmalig online registrieren und von der Praxis freischalten lassen, </a:t>
            </a:r>
            <a:pPr indent="0" marL="0">
              <a:buNone/>
            </a:pPr>
            <a:r>
              <a:rPr lang="en-US" sz="2100" dirty="0">
                <a:solidFill>
                  <a:schemeClr val="tx2"/>
                </a:solidFill>
              </a:rPr>
              <a:t>damit ich alle Dienste nutzen kann.</a:t>
            </a:r>
            <a:endParaRPr lang="en-US" sz="2100" dirty="0"/>
          </a:p>
        </p:txBody>
      </p:sp>
      <p:sp>
        <p:nvSpPr>
          <p:cNvPr id="8" name="Shape 5"/>
          <p:cNvSpPr/>
          <p:nvPr/>
        </p:nvSpPr>
        <p:spPr>
          <a:xfrm>
            <a:off x="548640" y="3566160"/>
            <a:ext cx="1962851" cy="1920240"/>
          </a:xfrm>
          <a:prstGeom prst="roundRect">
            <a:avLst>
              <a:gd name="adj" fmla="val 5714"/>
            </a:avLst>
          </a:prstGeom>
          <a:solidFill>
            <a:schemeClr val="bg2"/>
          </a:solidFill>
          <a:ln w="12700">
            <a:solidFill>
              <a:schemeClr val="bg2"/>
            </a:solidFill>
            <a:prstDash val="solid"/>
          </a:ln>
        </p:spPr>
      </p:sp>
      <p:sp>
        <p:nvSpPr>
          <p:cNvPr id="9" name="Shape 6"/>
          <p:cNvSpPr/>
          <p:nvPr/>
        </p:nvSpPr>
        <p:spPr>
          <a:xfrm>
            <a:off x="1255746" y="3794760"/>
            <a:ext cx="548640" cy="548640"/>
          </a:xfrm>
          <a:prstGeom prst="ellipse">
            <a:avLst/>
          </a:prstGeom>
          <a:solidFill>
            <a:schemeClr val="accent1"/>
          </a:solidFill>
          <a:ln w="12700">
            <a:solidFill>
              <a:schemeClr val="accent1"/>
            </a:solidFill>
            <a:prstDash val="solid"/>
          </a:ln>
        </p:spPr>
      </p:sp>
      <p:sp>
        <p:nvSpPr>
          <p:cNvPr id="10" name="Text 7"/>
          <p:cNvSpPr txBox="1"/>
          <p:nvPr/>
        </p:nvSpPr>
        <p:spPr>
          <a:xfrm>
            <a:off x="1255746"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658368"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Konto &amp; Versicherung anlegen</a:t>
            </a:r>
            <a:endParaRPr lang="en-US" sz="1700" dirty="0"/>
          </a:p>
        </p:txBody>
      </p:sp>
      <p:pic>
        <p:nvPicPr>
          <p:cNvPr id="12" name="Image 1" descr="preencoded.png">    </p:cNvPr>
          <p:cNvPicPr>
            <a:picLocks noChangeAspect="1"/>
          </p:cNvPicPr>
          <p:nvPr/>
        </p:nvPicPr>
        <p:blipFill>
          <a:blip r:embed="rId2"/>
          <a:stretch>
            <a:fillRect/>
          </a:stretch>
        </p:blipFill>
        <p:spPr>
          <a:xfrm>
            <a:off x="2575499" y="4434840"/>
            <a:ext cx="192024" cy="192024"/>
          </a:xfrm>
          <a:prstGeom prst="rect">
            <a:avLst/>
          </a:prstGeom>
        </p:spPr>
      </p:pic>
      <p:sp>
        <p:nvSpPr>
          <p:cNvPr id="13" name="Shape 9"/>
          <p:cNvSpPr/>
          <p:nvPr/>
        </p:nvSpPr>
        <p:spPr>
          <a:xfrm>
            <a:off x="2831531" y="3566160"/>
            <a:ext cx="1962851" cy="1920240"/>
          </a:xfrm>
          <a:prstGeom prst="roundRect">
            <a:avLst>
              <a:gd name="adj" fmla="val 5714"/>
            </a:avLst>
          </a:prstGeom>
          <a:solidFill>
            <a:schemeClr val="bg2"/>
          </a:solidFill>
          <a:ln w="12700">
            <a:solidFill>
              <a:schemeClr val="bg2"/>
            </a:solidFill>
            <a:prstDash val="solid"/>
          </a:ln>
        </p:spPr>
      </p:sp>
      <p:sp>
        <p:nvSpPr>
          <p:cNvPr id="14" name="Shape 10"/>
          <p:cNvSpPr/>
          <p:nvPr/>
        </p:nvSpPr>
        <p:spPr>
          <a:xfrm>
            <a:off x="3538637" y="3794760"/>
            <a:ext cx="548640" cy="548640"/>
          </a:xfrm>
          <a:prstGeom prst="ellipse">
            <a:avLst/>
          </a:prstGeom>
          <a:solidFill>
            <a:schemeClr val="accent1"/>
          </a:solidFill>
          <a:ln w="12700">
            <a:solidFill>
              <a:schemeClr val="accent1"/>
            </a:solidFill>
            <a:prstDash val="solid"/>
          </a:ln>
        </p:spPr>
      </p:sp>
      <p:sp>
        <p:nvSpPr>
          <p:cNvPr id="15" name="Text 11"/>
          <p:cNvSpPr txBox="1"/>
          <p:nvPr/>
        </p:nvSpPr>
        <p:spPr>
          <a:xfrm>
            <a:off x="3538637"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2"/>
          <p:cNvSpPr txBox="1"/>
          <p:nvPr/>
        </p:nvSpPr>
        <p:spPr>
          <a:xfrm>
            <a:off x="2941259"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E-Mail verifizieren</a:t>
            </a:r>
            <a:endParaRPr lang="en-US" sz="1700" dirty="0"/>
          </a:p>
        </p:txBody>
      </p:sp>
      <p:pic>
        <p:nvPicPr>
          <p:cNvPr id="17" name="Image 2" descr="preencoded.png">    </p:cNvPr>
          <p:cNvPicPr>
            <a:picLocks noChangeAspect="1"/>
          </p:cNvPicPr>
          <p:nvPr/>
        </p:nvPicPr>
        <p:blipFill>
          <a:blip r:embed="rId3"/>
          <a:stretch>
            <a:fillRect/>
          </a:stretch>
        </p:blipFill>
        <p:spPr>
          <a:xfrm>
            <a:off x="4858390" y="4434840"/>
            <a:ext cx="192024" cy="192024"/>
          </a:xfrm>
          <a:prstGeom prst="rect">
            <a:avLst/>
          </a:prstGeom>
        </p:spPr>
      </p:pic>
      <p:sp>
        <p:nvSpPr>
          <p:cNvPr id="18" name="Shape 13"/>
          <p:cNvSpPr/>
          <p:nvPr/>
        </p:nvSpPr>
        <p:spPr>
          <a:xfrm>
            <a:off x="5114422" y="3566160"/>
            <a:ext cx="1962851" cy="1920240"/>
          </a:xfrm>
          <a:prstGeom prst="roundRect">
            <a:avLst>
              <a:gd name="adj" fmla="val 5714"/>
            </a:avLst>
          </a:prstGeom>
          <a:solidFill>
            <a:schemeClr val="bg2"/>
          </a:solidFill>
          <a:ln w="12700">
            <a:solidFill>
              <a:schemeClr val="bg2"/>
            </a:solidFill>
            <a:prstDash val="solid"/>
          </a:ln>
        </p:spPr>
      </p:sp>
      <p:sp>
        <p:nvSpPr>
          <p:cNvPr id="19" name="Shape 14"/>
          <p:cNvSpPr/>
          <p:nvPr/>
        </p:nvSpPr>
        <p:spPr>
          <a:xfrm>
            <a:off x="5821528" y="3794760"/>
            <a:ext cx="548640" cy="548640"/>
          </a:xfrm>
          <a:prstGeom prst="ellipse">
            <a:avLst/>
          </a:prstGeom>
          <a:solidFill>
            <a:schemeClr val="accent1"/>
          </a:solidFill>
          <a:ln w="12700">
            <a:solidFill>
              <a:schemeClr val="accent1"/>
            </a:solidFill>
            <a:prstDash val="solid"/>
          </a:ln>
        </p:spPr>
      </p:sp>
      <p:sp>
        <p:nvSpPr>
          <p:cNvPr id="20" name="Text 15"/>
          <p:cNvSpPr txBox="1"/>
          <p:nvPr/>
        </p:nvSpPr>
        <p:spPr>
          <a:xfrm>
            <a:off x="5821528"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6"/>
          <p:cNvSpPr txBox="1"/>
          <p:nvPr/>
        </p:nvSpPr>
        <p:spPr>
          <a:xfrm>
            <a:off x="5224150"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Praxis prüft Daten</a:t>
            </a:r>
            <a:endParaRPr lang="en-US" sz="1700" dirty="0"/>
          </a:p>
        </p:txBody>
      </p:sp>
      <p:pic>
        <p:nvPicPr>
          <p:cNvPr id="22" name="Image 3" descr="preencoded.png">    </p:cNvPr>
          <p:cNvPicPr>
            <a:picLocks noChangeAspect="1"/>
          </p:cNvPicPr>
          <p:nvPr/>
        </p:nvPicPr>
        <p:blipFill>
          <a:blip r:embed="rId4"/>
          <a:stretch>
            <a:fillRect/>
          </a:stretch>
        </p:blipFill>
        <p:spPr>
          <a:xfrm>
            <a:off x="7141281" y="4434840"/>
            <a:ext cx="192024" cy="192024"/>
          </a:xfrm>
          <a:prstGeom prst="rect">
            <a:avLst/>
          </a:prstGeom>
        </p:spPr>
      </p:pic>
      <p:sp>
        <p:nvSpPr>
          <p:cNvPr id="23" name="Shape 17"/>
          <p:cNvSpPr/>
          <p:nvPr/>
        </p:nvSpPr>
        <p:spPr>
          <a:xfrm>
            <a:off x="7397313" y="3566160"/>
            <a:ext cx="1962851" cy="1920240"/>
          </a:xfrm>
          <a:prstGeom prst="roundRect">
            <a:avLst>
              <a:gd name="adj" fmla="val 5714"/>
            </a:avLst>
          </a:prstGeom>
          <a:solidFill>
            <a:schemeClr val="bg2"/>
          </a:solidFill>
          <a:ln w="12700">
            <a:solidFill>
              <a:schemeClr val="bg2"/>
            </a:solidFill>
            <a:prstDash val="solid"/>
          </a:ln>
        </p:spPr>
      </p:sp>
      <p:sp>
        <p:nvSpPr>
          <p:cNvPr id="24" name="Shape 18"/>
          <p:cNvSpPr/>
          <p:nvPr/>
        </p:nvSpPr>
        <p:spPr>
          <a:xfrm>
            <a:off x="8104419" y="3794760"/>
            <a:ext cx="548640" cy="548640"/>
          </a:xfrm>
          <a:prstGeom prst="ellipse">
            <a:avLst/>
          </a:prstGeom>
          <a:solidFill>
            <a:schemeClr val="accent1"/>
          </a:solidFill>
          <a:ln w="12700">
            <a:solidFill>
              <a:schemeClr val="accent1"/>
            </a:solidFill>
            <a:prstDash val="solid"/>
          </a:ln>
        </p:spPr>
      </p:sp>
      <p:sp>
        <p:nvSpPr>
          <p:cNvPr id="25" name="Text 19"/>
          <p:cNvSpPr txBox="1"/>
          <p:nvPr/>
        </p:nvSpPr>
        <p:spPr>
          <a:xfrm>
            <a:off x="8104419"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0"/>
          <p:cNvSpPr txBox="1"/>
          <p:nvPr/>
        </p:nvSpPr>
        <p:spPr>
          <a:xfrm>
            <a:off x="7507041"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Freigabe erteilt</a:t>
            </a:r>
            <a:endParaRPr lang="en-US" sz="1700" dirty="0"/>
          </a:p>
        </p:txBody>
      </p:sp>
      <p:pic>
        <p:nvPicPr>
          <p:cNvPr id="27" name="Image 4" descr="preencoded.png">    </p:cNvPr>
          <p:cNvPicPr>
            <a:picLocks noChangeAspect="1"/>
          </p:cNvPicPr>
          <p:nvPr/>
        </p:nvPicPr>
        <p:blipFill>
          <a:blip r:embed="rId5"/>
          <a:stretch>
            <a:fillRect/>
          </a:stretch>
        </p:blipFill>
        <p:spPr>
          <a:xfrm>
            <a:off x="9424172" y="4434840"/>
            <a:ext cx="192024" cy="192024"/>
          </a:xfrm>
          <a:prstGeom prst="rect">
            <a:avLst/>
          </a:prstGeom>
        </p:spPr>
      </p:pic>
      <p:sp>
        <p:nvSpPr>
          <p:cNvPr id="28" name="Shape 21"/>
          <p:cNvSpPr/>
          <p:nvPr/>
        </p:nvSpPr>
        <p:spPr>
          <a:xfrm>
            <a:off x="9680204" y="3566160"/>
            <a:ext cx="1962851" cy="1920240"/>
          </a:xfrm>
          <a:prstGeom prst="roundRect">
            <a:avLst>
              <a:gd name="adj" fmla="val 5714"/>
            </a:avLst>
          </a:prstGeom>
          <a:solidFill>
            <a:schemeClr val="bg2"/>
          </a:solidFill>
          <a:ln w="12700">
            <a:solidFill>
              <a:schemeClr val="bg2"/>
            </a:solidFill>
            <a:prstDash val="solid"/>
          </a:ln>
        </p:spPr>
      </p:sp>
      <p:sp>
        <p:nvSpPr>
          <p:cNvPr id="29" name="Shape 22"/>
          <p:cNvSpPr/>
          <p:nvPr/>
        </p:nvSpPr>
        <p:spPr>
          <a:xfrm>
            <a:off x="10387310" y="3794760"/>
            <a:ext cx="548640" cy="548640"/>
          </a:xfrm>
          <a:prstGeom prst="ellipse">
            <a:avLst/>
          </a:prstGeom>
          <a:solidFill>
            <a:schemeClr val="accent1"/>
          </a:solidFill>
          <a:ln w="12700">
            <a:solidFill>
              <a:schemeClr val="accent1"/>
            </a:solidFill>
            <a:prstDash val="solid"/>
          </a:ln>
        </p:spPr>
      </p:sp>
      <p:sp>
        <p:nvSpPr>
          <p:cNvPr id="30" name="Text 23"/>
          <p:cNvSpPr txBox="1"/>
          <p:nvPr/>
        </p:nvSpPr>
        <p:spPr>
          <a:xfrm>
            <a:off x="1038731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1" name="Text 24"/>
          <p:cNvSpPr txBox="1"/>
          <p:nvPr/>
        </p:nvSpPr>
        <p:spPr>
          <a:xfrm>
            <a:off x="9789932" y="4480560"/>
            <a:ext cx="1743395" cy="822960"/>
          </a:xfrm>
          <a:prstGeom prst="rect">
            <a:avLst/>
          </a:prstGeom>
          <a:noFill/>
          <a:ln/>
        </p:spPr>
        <p:txBody>
          <a:bodyPr wrap="square" lIns="0" tIns="0" rIns="0" bIns="0" rtlCol="0" anchor="t"/>
          <a:lstStyle/>
          <a:p>
            <a:pPr algn="ctr" indent="0" marL="0">
              <a:buNone/>
            </a:pPr>
            <a:r>
              <a:rPr lang="en-US" sz="1700" b="1" dirty="0">
                <a:solidFill>
                  <a:schemeClr val="tx1"/>
                </a:solidFill>
              </a:rPr>
              <a:t>Willkommen &amp; Zugang</a:t>
            </a:r>
            <a:endParaRPr lang="en-US" sz="1700" dirty="0"/>
          </a:p>
        </p:txBody>
      </p:sp>
      <p:sp>
        <p:nvSpPr>
          <p:cNvPr id="32" name="Text 25"/>
          <p:cNvSpPr txBox="1"/>
          <p:nvPr/>
        </p:nvSpPr>
        <p:spPr>
          <a:xfrm>
            <a:off x="548640" y="5760720"/>
            <a:ext cx="9144000" cy="365760"/>
          </a:xfrm>
          <a:prstGeom prst="rect">
            <a:avLst/>
          </a:prstGeom>
          <a:noFill/>
          <a:ln/>
        </p:spPr>
        <p:txBody>
          <a:bodyPr wrap="square" lIns="0" tIns="0" rIns="0" bIns="0" rtlCol="0" anchor="ctr"/>
          <a:lstStyle/>
          <a:p>
            <a:pPr indent="0" marL="0">
              <a:buNone/>
            </a:pPr>
            <a:r>
              <a:rPr lang="en-US" sz="1500" b="1" dirty="0">
                <a:solidFill>
                  <a:schemeClr val="accent4"/>
                </a:solidFill>
              </a:rPr>
              <a:t>Alternativer Ablauf:  </a:t>
            </a:r>
            <a:pPr indent="0" marL="0">
              <a:buNone/>
            </a:pPr>
            <a:r>
              <a:rPr lang="en-US" sz="1500" dirty="0">
                <a:solidFill>
                  <a:schemeClr val="tx2"/>
                </a:solidFill>
              </a:rPr>
              <a:t>Ungültige Daten → Hinweis &amp; Korrektur</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06  ·  Systemanalyse</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10 Geschäftsprozesse in BPMN 2.0</a:t>
            </a:r>
            <a:endParaRPr lang="en-US" sz="3400" dirty="0"/>
          </a:p>
        </p:txBody>
      </p:sp>
      <p:sp>
        <p:nvSpPr>
          <p:cNvPr id="4" name="Shape 2"/>
          <p:cNvSpPr/>
          <p:nvPr/>
        </p:nvSpPr>
        <p:spPr>
          <a:xfrm>
            <a:off x="548640" y="1828800"/>
            <a:ext cx="2036003" cy="1600200"/>
          </a:xfrm>
          <a:prstGeom prst="roundRect">
            <a:avLst>
              <a:gd name="adj" fmla="val 6857"/>
            </a:avLst>
          </a:prstGeom>
          <a:solidFill>
            <a:schemeClr val="bg2"/>
          </a:solidFill>
          <a:ln w="12700">
            <a:solidFill>
              <a:schemeClr val="bg2"/>
            </a:solidFill>
            <a:prstDash val="solid"/>
          </a:ln>
        </p:spPr>
      </p:sp>
      <p:sp>
        <p:nvSpPr>
          <p:cNvPr id="5" name="Text 3"/>
          <p:cNvSpPr txBox="1"/>
          <p:nvPr/>
        </p:nvSpPr>
        <p:spPr>
          <a:xfrm>
            <a:off x="777240" y="201168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6" name="Text 4"/>
          <p:cNvSpPr txBox="1"/>
          <p:nvPr/>
        </p:nvSpPr>
        <p:spPr>
          <a:xfrm>
            <a:off x="777240" y="2606040"/>
            <a:ext cx="1578803" cy="685800"/>
          </a:xfrm>
          <a:prstGeom prst="rect">
            <a:avLst/>
          </a:prstGeom>
          <a:noFill/>
          <a:ln/>
        </p:spPr>
        <p:txBody>
          <a:bodyPr wrap="square" lIns="0" tIns="0" rIns="0" bIns="0" rtlCol="0" anchor="t"/>
          <a:lstStyle/>
          <a:p>
            <a:pPr indent="0" marL="0">
              <a:buNone/>
            </a:pPr>
            <a:r>
              <a:rPr lang="en-US" sz="1600" b="1" dirty="0">
                <a:solidFill>
                  <a:schemeClr val="tx1"/>
                </a:solidFill>
              </a:rPr>
              <a:t>Termin suchen &amp; buchen</a:t>
            </a:r>
            <a:endParaRPr lang="en-US" sz="1600" dirty="0"/>
          </a:p>
        </p:txBody>
      </p:sp>
      <p:sp>
        <p:nvSpPr>
          <p:cNvPr id="7" name="Shape 5"/>
          <p:cNvSpPr/>
          <p:nvPr/>
        </p:nvSpPr>
        <p:spPr>
          <a:xfrm>
            <a:off x="2813243" y="1828800"/>
            <a:ext cx="2036003" cy="1600200"/>
          </a:xfrm>
          <a:prstGeom prst="roundRect">
            <a:avLst>
              <a:gd name="adj" fmla="val 6857"/>
            </a:avLst>
          </a:prstGeom>
          <a:solidFill>
            <a:schemeClr val="bg2"/>
          </a:solidFill>
          <a:ln w="12700">
            <a:solidFill>
              <a:schemeClr val="bg2"/>
            </a:solidFill>
            <a:prstDash val="solid"/>
          </a:ln>
        </p:spPr>
      </p:sp>
      <p:sp>
        <p:nvSpPr>
          <p:cNvPr id="8" name="Text 6"/>
          <p:cNvSpPr txBox="1"/>
          <p:nvPr/>
        </p:nvSpPr>
        <p:spPr>
          <a:xfrm>
            <a:off x="3041843" y="201168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9" name="Text 7"/>
          <p:cNvSpPr txBox="1"/>
          <p:nvPr/>
        </p:nvSpPr>
        <p:spPr>
          <a:xfrm>
            <a:off x="3041843" y="2606040"/>
            <a:ext cx="1578803" cy="685800"/>
          </a:xfrm>
          <a:prstGeom prst="rect">
            <a:avLst/>
          </a:prstGeom>
          <a:noFill/>
          <a:ln/>
        </p:spPr>
        <p:txBody>
          <a:bodyPr wrap="square" lIns="0" tIns="0" rIns="0" bIns="0" rtlCol="0" anchor="t"/>
          <a:lstStyle/>
          <a:p>
            <a:pPr indent="0" marL="0">
              <a:buNone/>
            </a:pPr>
            <a:r>
              <a:rPr lang="en-US" sz="1600" b="1" dirty="0">
                <a:solidFill>
                  <a:schemeClr val="tx1"/>
                </a:solidFill>
              </a:rPr>
              <a:t>Termin absagen</a:t>
            </a:r>
            <a:endParaRPr lang="en-US" sz="1600" dirty="0"/>
          </a:p>
        </p:txBody>
      </p:sp>
      <p:sp>
        <p:nvSpPr>
          <p:cNvPr id="10" name="Shape 8"/>
          <p:cNvSpPr/>
          <p:nvPr/>
        </p:nvSpPr>
        <p:spPr>
          <a:xfrm>
            <a:off x="5077846" y="1828800"/>
            <a:ext cx="2036003" cy="1600200"/>
          </a:xfrm>
          <a:prstGeom prst="roundRect">
            <a:avLst>
              <a:gd name="adj" fmla="val 6857"/>
            </a:avLst>
          </a:prstGeom>
          <a:solidFill>
            <a:schemeClr val="bg2"/>
          </a:solidFill>
          <a:ln w="12700">
            <a:solidFill>
              <a:schemeClr val="bg2"/>
            </a:solidFill>
            <a:prstDash val="solid"/>
          </a:ln>
        </p:spPr>
      </p:sp>
      <p:sp>
        <p:nvSpPr>
          <p:cNvPr id="11" name="Text 9"/>
          <p:cNvSpPr txBox="1"/>
          <p:nvPr/>
        </p:nvSpPr>
        <p:spPr>
          <a:xfrm>
            <a:off x="5306446" y="201168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2" name="Text 10"/>
          <p:cNvSpPr txBox="1"/>
          <p:nvPr/>
        </p:nvSpPr>
        <p:spPr>
          <a:xfrm>
            <a:off x="5306446" y="2606040"/>
            <a:ext cx="1578803" cy="685800"/>
          </a:xfrm>
          <a:prstGeom prst="rect">
            <a:avLst/>
          </a:prstGeom>
          <a:noFill/>
          <a:ln/>
        </p:spPr>
        <p:txBody>
          <a:bodyPr wrap="square" lIns="0" tIns="0" rIns="0" bIns="0" rtlCol="0" anchor="t"/>
          <a:lstStyle/>
          <a:p>
            <a:pPr indent="0" marL="0">
              <a:buNone/>
            </a:pPr>
            <a:r>
              <a:rPr lang="en-US" sz="1600" b="1" dirty="0">
                <a:solidFill>
                  <a:schemeClr val="tx1"/>
                </a:solidFill>
              </a:rPr>
              <a:t>Termin­benachrichtigung</a:t>
            </a:r>
            <a:endParaRPr lang="en-US" sz="1600" dirty="0"/>
          </a:p>
        </p:txBody>
      </p:sp>
      <p:sp>
        <p:nvSpPr>
          <p:cNvPr id="13" name="Shape 11"/>
          <p:cNvSpPr/>
          <p:nvPr/>
        </p:nvSpPr>
        <p:spPr>
          <a:xfrm>
            <a:off x="7342449" y="1828800"/>
            <a:ext cx="2036003" cy="1600200"/>
          </a:xfrm>
          <a:prstGeom prst="roundRect">
            <a:avLst>
              <a:gd name="adj" fmla="val 6857"/>
            </a:avLst>
          </a:prstGeom>
          <a:solidFill>
            <a:schemeClr val="bg2"/>
          </a:solidFill>
          <a:ln w="12700">
            <a:solidFill>
              <a:schemeClr val="bg2"/>
            </a:solidFill>
            <a:prstDash val="solid"/>
          </a:ln>
        </p:spPr>
      </p:sp>
      <p:sp>
        <p:nvSpPr>
          <p:cNvPr id="14" name="Text 12"/>
          <p:cNvSpPr txBox="1"/>
          <p:nvPr/>
        </p:nvSpPr>
        <p:spPr>
          <a:xfrm>
            <a:off x="7571049" y="201168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04</a:t>
            </a:r>
            <a:endParaRPr lang="en-US" sz="2800" dirty="0"/>
          </a:p>
        </p:txBody>
      </p:sp>
      <p:sp>
        <p:nvSpPr>
          <p:cNvPr id="15" name="Text 13"/>
          <p:cNvSpPr txBox="1"/>
          <p:nvPr/>
        </p:nvSpPr>
        <p:spPr>
          <a:xfrm>
            <a:off x="7571049" y="2606040"/>
            <a:ext cx="1578803" cy="685800"/>
          </a:xfrm>
          <a:prstGeom prst="rect">
            <a:avLst/>
          </a:prstGeom>
          <a:noFill/>
          <a:ln/>
        </p:spPr>
        <p:txBody>
          <a:bodyPr wrap="square" lIns="0" tIns="0" rIns="0" bIns="0" rtlCol="0" anchor="t"/>
          <a:lstStyle/>
          <a:p>
            <a:pPr indent="0" marL="0">
              <a:buNone/>
            </a:pPr>
            <a:r>
              <a:rPr lang="en-US" sz="1600" b="1" dirty="0">
                <a:solidFill>
                  <a:schemeClr val="tx1"/>
                </a:solidFill>
              </a:rPr>
              <a:t>Termin verschieben</a:t>
            </a:r>
            <a:endParaRPr lang="en-US" sz="1600" dirty="0"/>
          </a:p>
        </p:txBody>
      </p:sp>
      <p:sp>
        <p:nvSpPr>
          <p:cNvPr id="16" name="Shape 14"/>
          <p:cNvSpPr/>
          <p:nvPr/>
        </p:nvSpPr>
        <p:spPr>
          <a:xfrm>
            <a:off x="9607052" y="1828800"/>
            <a:ext cx="2036003" cy="1600200"/>
          </a:xfrm>
          <a:prstGeom prst="roundRect">
            <a:avLst>
              <a:gd name="adj" fmla="val 6857"/>
            </a:avLst>
          </a:prstGeom>
          <a:solidFill>
            <a:schemeClr val="bg2"/>
          </a:solidFill>
          <a:ln w="12700">
            <a:solidFill>
              <a:schemeClr val="bg2"/>
            </a:solidFill>
            <a:prstDash val="solid"/>
          </a:ln>
        </p:spPr>
      </p:sp>
      <p:sp>
        <p:nvSpPr>
          <p:cNvPr id="17" name="Text 15"/>
          <p:cNvSpPr txBox="1"/>
          <p:nvPr/>
        </p:nvSpPr>
        <p:spPr>
          <a:xfrm>
            <a:off x="9835652" y="201168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05</a:t>
            </a:r>
            <a:endParaRPr lang="en-US" sz="2800" dirty="0"/>
          </a:p>
        </p:txBody>
      </p:sp>
      <p:sp>
        <p:nvSpPr>
          <p:cNvPr id="18" name="Text 16"/>
          <p:cNvSpPr txBox="1"/>
          <p:nvPr/>
        </p:nvSpPr>
        <p:spPr>
          <a:xfrm>
            <a:off x="9835652" y="2606040"/>
            <a:ext cx="1578803" cy="685800"/>
          </a:xfrm>
          <a:prstGeom prst="rect">
            <a:avLst/>
          </a:prstGeom>
          <a:noFill/>
          <a:ln/>
        </p:spPr>
        <p:txBody>
          <a:bodyPr wrap="square" lIns="0" tIns="0" rIns="0" bIns="0" rtlCol="0" anchor="t"/>
          <a:lstStyle/>
          <a:p>
            <a:pPr indent="0" marL="0">
              <a:buNone/>
            </a:pPr>
            <a:r>
              <a:rPr lang="en-US" sz="1600" b="1" dirty="0">
                <a:solidFill>
                  <a:schemeClr val="tx1"/>
                </a:solidFill>
              </a:rPr>
              <a:t>Patient überweisen</a:t>
            </a:r>
            <a:endParaRPr lang="en-US" sz="1600" dirty="0"/>
          </a:p>
        </p:txBody>
      </p:sp>
      <p:sp>
        <p:nvSpPr>
          <p:cNvPr id="19" name="Shape 17"/>
          <p:cNvSpPr/>
          <p:nvPr/>
        </p:nvSpPr>
        <p:spPr>
          <a:xfrm>
            <a:off x="548640" y="3703320"/>
            <a:ext cx="2036003" cy="1600200"/>
          </a:xfrm>
          <a:prstGeom prst="roundRect">
            <a:avLst>
              <a:gd name="adj" fmla="val 6857"/>
            </a:avLst>
          </a:prstGeom>
          <a:solidFill>
            <a:schemeClr val="bg2"/>
          </a:solidFill>
          <a:ln w="12700">
            <a:solidFill>
              <a:schemeClr val="bg2"/>
            </a:solidFill>
            <a:prstDash val="solid"/>
          </a:ln>
        </p:spPr>
      </p:sp>
      <p:sp>
        <p:nvSpPr>
          <p:cNvPr id="20" name="Text 18"/>
          <p:cNvSpPr txBox="1"/>
          <p:nvPr/>
        </p:nvSpPr>
        <p:spPr>
          <a:xfrm>
            <a:off x="777240" y="388620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06</a:t>
            </a:r>
            <a:endParaRPr lang="en-US" sz="2800" dirty="0"/>
          </a:p>
        </p:txBody>
      </p:sp>
      <p:sp>
        <p:nvSpPr>
          <p:cNvPr id="21" name="Text 19"/>
          <p:cNvSpPr txBox="1"/>
          <p:nvPr/>
        </p:nvSpPr>
        <p:spPr>
          <a:xfrm>
            <a:off x="777240" y="4480560"/>
            <a:ext cx="1578803" cy="685800"/>
          </a:xfrm>
          <a:prstGeom prst="rect">
            <a:avLst/>
          </a:prstGeom>
          <a:noFill/>
          <a:ln/>
        </p:spPr>
        <p:txBody>
          <a:bodyPr wrap="square" lIns="0" tIns="0" rIns="0" bIns="0" rtlCol="0" anchor="t"/>
          <a:lstStyle/>
          <a:p>
            <a:pPr indent="0" marL="0">
              <a:buNone/>
            </a:pPr>
            <a:r>
              <a:rPr lang="en-US" sz="1600" b="1" dirty="0">
                <a:solidFill>
                  <a:schemeClr val="tx1"/>
                </a:solidFill>
              </a:rPr>
              <a:t>Check-in beim Arzt</a:t>
            </a:r>
            <a:endParaRPr lang="en-US" sz="1600" dirty="0"/>
          </a:p>
        </p:txBody>
      </p:sp>
      <p:sp>
        <p:nvSpPr>
          <p:cNvPr id="22" name="Shape 20"/>
          <p:cNvSpPr/>
          <p:nvPr/>
        </p:nvSpPr>
        <p:spPr>
          <a:xfrm>
            <a:off x="2813243" y="3703320"/>
            <a:ext cx="2036003" cy="1600200"/>
          </a:xfrm>
          <a:prstGeom prst="roundRect">
            <a:avLst>
              <a:gd name="adj" fmla="val 6857"/>
            </a:avLst>
          </a:prstGeom>
          <a:solidFill>
            <a:schemeClr val="bg2"/>
          </a:solidFill>
          <a:ln w="12700">
            <a:solidFill>
              <a:schemeClr val="bg2"/>
            </a:solidFill>
            <a:prstDash val="solid"/>
          </a:ln>
        </p:spPr>
      </p:sp>
      <p:sp>
        <p:nvSpPr>
          <p:cNvPr id="23" name="Text 21"/>
          <p:cNvSpPr txBox="1"/>
          <p:nvPr/>
        </p:nvSpPr>
        <p:spPr>
          <a:xfrm>
            <a:off x="3041843" y="388620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07</a:t>
            </a:r>
            <a:endParaRPr lang="en-US" sz="2800" dirty="0"/>
          </a:p>
        </p:txBody>
      </p:sp>
      <p:sp>
        <p:nvSpPr>
          <p:cNvPr id="24" name="Text 22"/>
          <p:cNvSpPr txBox="1"/>
          <p:nvPr/>
        </p:nvSpPr>
        <p:spPr>
          <a:xfrm>
            <a:off x="3041843" y="4480560"/>
            <a:ext cx="1578803" cy="685800"/>
          </a:xfrm>
          <a:prstGeom prst="rect">
            <a:avLst/>
          </a:prstGeom>
          <a:noFill/>
          <a:ln/>
        </p:spPr>
        <p:txBody>
          <a:bodyPr wrap="square" lIns="0" tIns="0" rIns="0" bIns="0" rtlCol="0" anchor="t"/>
          <a:lstStyle/>
          <a:p>
            <a:pPr indent="0" marL="0">
              <a:buNone/>
            </a:pPr>
            <a:r>
              <a:rPr lang="en-US" sz="1600" b="1" dirty="0">
                <a:solidFill>
                  <a:schemeClr val="tx1"/>
                </a:solidFill>
              </a:rPr>
              <a:t>Notfallpatient</a:t>
            </a:r>
            <a:endParaRPr lang="en-US" sz="1600" dirty="0"/>
          </a:p>
        </p:txBody>
      </p:sp>
      <p:sp>
        <p:nvSpPr>
          <p:cNvPr id="25" name="Shape 23"/>
          <p:cNvSpPr/>
          <p:nvPr/>
        </p:nvSpPr>
        <p:spPr>
          <a:xfrm>
            <a:off x="5077846" y="3703320"/>
            <a:ext cx="2036003" cy="1600200"/>
          </a:xfrm>
          <a:prstGeom prst="roundRect">
            <a:avLst>
              <a:gd name="adj" fmla="val 6857"/>
            </a:avLst>
          </a:prstGeom>
          <a:solidFill>
            <a:schemeClr val="bg2"/>
          </a:solidFill>
          <a:ln w="12700">
            <a:solidFill>
              <a:schemeClr val="bg2"/>
            </a:solidFill>
            <a:prstDash val="solid"/>
          </a:ln>
        </p:spPr>
      </p:sp>
      <p:sp>
        <p:nvSpPr>
          <p:cNvPr id="26" name="Text 24"/>
          <p:cNvSpPr txBox="1"/>
          <p:nvPr/>
        </p:nvSpPr>
        <p:spPr>
          <a:xfrm>
            <a:off x="5306446" y="388620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08</a:t>
            </a:r>
            <a:endParaRPr lang="en-US" sz="2800" dirty="0"/>
          </a:p>
        </p:txBody>
      </p:sp>
      <p:sp>
        <p:nvSpPr>
          <p:cNvPr id="27" name="Text 25"/>
          <p:cNvSpPr txBox="1"/>
          <p:nvPr/>
        </p:nvSpPr>
        <p:spPr>
          <a:xfrm>
            <a:off x="5306446" y="4480560"/>
            <a:ext cx="1578803" cy="685800"/>
          </a:xfrm>
          <a:prstGeom prst="rect">
            <a:avLst/>
          </a:prstGeom>
          <a:noFill/>
          <a:ln/>
        </p:spPr>
        <p:txBody>
          <a:bodyPr wrap="square" lIns="0" tIns="0" rIns="0" bIns="0" rtlCol="0" anchor="t"/>
          <a:lstStyle/>
          <a:p>
            <a:pPr indent="0" marL="0">
              <a:buNone/>
            </a:pPr>
            <a:r>
              <a:rPr lang="en-US" sz="1600" b="1" dirty="0">
                <a:solidFill>
                  <a:schemeClr val="tx1"/>
                </a:solidFill>
              </a:rPr>
              <a:t>Apotheke suchen</a:t>
            </a:r>
            <a:endParaRPr lang="en-US" sz="1600" dirty="0"/>
          </a:p>
        </p:txBody>
      </p:sp>
      <p:sp>
        <p:nvSpPr>
          <p:cNvPr id="28" name="Shape 26"/>
          <p:cNvSpPr/>
          <p:nvPr/>
        </p:nvSpPr>
        <p:spPr>
          <a:xfrm>
            <a:off x="7342449" y="3703320"/>
            <a:ext cx="2036003" cy="1600200"/>
          </a:xfrm>
          <a:prstGeom prst="roundRect">
            <a:avLst>
              <a:gd name="adj" fmla="val 6857"/>
            </a:avLst>
          </a:prstGeom>
          <a:solidFill>
            <a:schemeClr val="bg2"/>
          </a:solidFill>
          <a:ln w="12700">
            <a:solidFill>
              <a:schemeClr val="bg2"/>
            </a:solidFill>
            <a:prstDash val="solid"/>
          </a:ln>
        </p:spPr>
      </p:sp>
      <p:sp>
        <p:nvSpPr>
          <p:cNvPr id="29" name="Text 27"/>
          <p:cNvSpPr txBox="1"/>
          <p:nvPr/>
        </p:nvSpPr>
        <p:spPr>
          <a:xfrm>
            <a:off x="7571049" y="388620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09</a:t>
            </a:r>
            <a:endParaRPr lang="en-US" sz="2800" dirty="0"/>
          </a:p>
        </p:txBody>
      </p:sp>
      <p:sp>
        <p:nvSpPr>
          <p:cNvPr id="30" name="Text 28"/>
          <p:cNvSpPr txBox="1"/>
          <p:nvPr/>
        </p:nvSpPr>
        <p:spPr>
          <a:xfrm>
            <a:off x="7571049" y="4480560"/>
            <a:ext cx="1578803" cy="685800"/>
          </a:xfrm>
          <a:prstGeom prst="rect">
            <a:avLst/>
          </a:prstGeom>
          <a:noFill/>
          <a:ln/>
        </p:spPr>
        <p:txBody>
          <a:bodyPr wrap="square" lIns="0" tIns="0" rIns="0" bIns="0" rtlCol="0" anchor="t"/>
          <a:lstStyle/>
          <a:p>
            <a:pPr indent="0" marL="0">
              <a:buNone/>
            </a:pPr>
            <a:r>
              <a:rPr lang="en-US" sz="1600" b="1" dirty="0">
                <a:solidFill>
                  <a:schemeClr val="tx1"/>
                </a:solidFill>
              </a:rPr>
              <a:t>Post-Termin (Arztsicht)</a:t>
            </a:r>
            <a:endParaRPr lang="en-US" sz="1600" dirty="0"/>
          </a:p>
        </p:txBody>
      </p:sp>
      <p:sp>
        <p:nvSpPr>
          <p:cNvPr id="31" name="Shape 29"/>
          <p:cNvSpPr/>
          <p:nvPr/>
        </p:nvSpPr>
        <p:spPr>
          <a:xfrm>
            <a:off x="9607052" y="3703320"/>
            <a:ext cx="2036003" cy="1600200"/>
          </a:xfrm>
          <a:prstGeom prst="roundRect">
            <a:avLst>
              <a:gd name="adj" fmla="val 6857"/>
            </a:avLst>
          </a:prstGeom>
          <a:solidFill>
            <a:schemeClr val="bg2"/>
          </a:solidFill>
          <a:ln w="12700">
            <a:solidFill>
              <a:schemeClr val="bg2"/>
            </a:solidFill>
            <a:prstDash val="solid"/>
          </a:ln>
        </p:spPr>
      </p:sp>
      <p:sp>
        <p:nvSpPr>
          <p:cNvPr id="32" name="Text 30"/>
          <p:cNvSpPr txBox="1"/>
          <p:nvPr/>
        </p:nvSpPr>
        <p:spPr>
          <a:xfrm>
            <a:off x="9835652" y="3886200"/>
            <a:ext cx="914400" cy="502920"/>
          </a:xfrm>
          <a:prstGeom prst="rect">
            <a:avLst/>
          </a:prstGeom>
          <a:noFill/>
          <a:ln/>
        </p:spPr>
        <p:txBody>
          <a:bodyPr wrap="square" lIns="0" tIns="0" rIns="0" bIns="0" rtlCol="0" anchor="ctr"/>
          <a:lstStyle/>
          <a:p>
            <a:pPr indent="0" marL="0">
              <a:buNone/>
            </a:pPr>
            <a:r>
              <a:rPr lang="en-US" sz="2800" b="1" dirty="0">
                <a:solidFill>
                  <a:schemeClr val="accent1"/>
                </a:solidFill>
              </a:rPr>
              <a:t>10</a:t>
            </a:r>
            <a:endParaRPr lang="en-US" sz="2800" dirty="0"/>
          </a:p>
        </p:txBody>
      </p:sp>
      <p:sp>
        <p:nvSpPr>
          <p:cNvPr id="33" name="Text 31"/>
          <p:cNvSpPr txBox="1"/>
          <p:nvPr/>
        </p:nvSpPr>
        <p:spPr>
          <a:xfrm>
            <a:off x="9835652" y="4480560"/>
            <a:ext cx="1578803" cy="685800"/>
          </a:xfrm>
          <a:prstGeom prst="rect">
            <a:avLst/>
          </a:prstGeom>
          <a:noFill/>
          <a:ln/>
        </p:spPr>
        <p:txBody>
          <a:bodyPr wrap="square" lIns="0" tIns="0" rIns="0" bIns="0" rtlCol="0" anchor="t"/>
          <a:lstStyle/>
          <a:p>
            <a:pPr indent="0" marL="0">
              <a:buNone/>
            </a:pPr>
            <a:r>
              <a:rPr lang="en-US" sz="1600" b="1" dirty="0">
                <a:solidFill>
                  <a:schemeClr val="tx1"/>
                </a:solidFill>
              </a:rPr>
              <a:t>Patienten­registrierung</a:t>
            </a:r>
            <a:endParaRPr lang="en-US" sz="1600" dirty="0"/>
          </a:p>
        </p:txBody>
      </p:sp>
      <p:sp>
        <p:nvSpPr>
          <p:cNvPr id="34" name="Text 32"/>
          <p:cNvSpPr txBox="1"/>
          <p:nvPr/>
        </p:nvSpPr>
        <p:spPr>
          <a:xfrm>
            <a:off x="548640" y="5760720"/>
            <a:ext cx="9144000" cy="365760"/>
          </a:xfrm>
          <a:prstGeom prst="rect">
            <a:avLst/>
          </a:prstGeom>
          <a:noFill/>
          <a:ln/>
        </p:spPr>
        <p:txBody>
          <a:bodyPr wrap="square" lIns="0" tIns="0" rIns="0" bIns="0" rtlCol="0" anchor="ctr"/>
          <a:lstStyle/>
          <a:p>
            <a:pPr indent="0" marL="0">
              <a:buNone/>
            </a:pPr>
            <a:r>
              <a:rPr lang="en-US" sz="1500" dirty="0">
                <a:solidFill>
                  <a:schemeClr val="tx2"/>
                </a:solidFill>
              </a:rPr>
              <a:t>Kollaborationsdiagramme mit Pools &amp; Lanes · Camunda / bpmn.io</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06  ·  Systemanalyse</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Objektorientierte Modellierung (UML)</a:t>
            </a:r>
            <a:endParaRPr lang="en-US" sz="3400" dirty="0"/>
          </a:p>
        </p:txBody>
      </p:sp>
      <p:sp>
        <p:nvSpPr>
          <p:cNvPr id="4" name="Shape 2"/>
          <p:cNvSpPr/>
          <p:nvPr/>
        </p:nvSpPr>
        <p:spPr>
          <a:xfrm>
            <a:off x="548640" y="1828800"/>
            <a:ext cx="3520440" cy="3657600"/>
          </a:xfrm>
          <a:prstGeom prst="roundRect">
            <a:avLst>
              <a:gd name="adj" fmla="val 3117"/>
            </a:avLst>
          </a:prstGeom>
          <a:solidFill>
            <a:schemeClr val="bg2"/>
          </a:solidFill>
          <a:ln w="12700">
            <a:solidFill>
              <a:schemeClr val="bg2"/>
            </a:solidFill>
            <a:prstDash val="solid"/>
          </a:ln>
        </p:spPr>
      </p:sp>
      <p:sp>
        <p:nvSpPr>
          <p:cNvPr id="5" name="Shape 3"/>
          <p:cNvSpPr/>
          <p:nvPr/>
        </p:nvSpPr>
        <p:spPr>
          <a:xfrm>
            <a:off x="1897380" y="2148840"/>
            <a:ext cx="822960" cy="82296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2119579" y="2371039"/>
            <a:ext cx="378562" cy="378562"/>
          </a:xfrm>
          <a:prstGeom prst="rect">
            <a:avLst/>
          </a:prstGeom>
        </p:spPr>
      </p:pic>
      <p:sp>
        <p:nvSpPr>
          <p:cNvPr id="7" name="Text 4"/>
          <p:cNvSpPr txBox="1"/>
          <p:nvPr/>
        </p:nvSpPr>
        <p:spPr>
          <a:xfrm>
            <a:off x="548640" y="3108960"/>
            <a:ext cx="3520440" cy="914400"/>
          </a:xfrm>
          <a:prstGeom prst="rect">
            <a:avLst/>
          </a:prstGeom>
          <a:noFill/>
          <a:ln/>
        </p:spPr>
        <p:txBody>
          <a:bodyPr wrap="square" lIns="0" tIns="0" rIns="0" bIns="0" rtlCol="0" anchor="ctr"/>
          <a:lstStyle/>
          <a:p>
            <a:pPr algn="ctr" indent="0" marL="0">
              <a:buNone/>
            </a:pPr>
            <a:r>
              <a:rPr lang="en-US" sz="6000" b="1" dirty="0">
                <a:solidFill>
                  <a:schemeClr val="accent1"/>
                </a:solidFill>
              </a:rPr>
              <a:t>12</a:t>
            </a:r>
            <a:endParaRPr lang="en-US" sz="6000" dirty="0"/>
          </a:p>
        </p:txBody>
      </p:sp>
      <p:sp>
        <p:nvSpPr>
          <p:cNvPr id="8" name="Text 5"/>
          <p:cNvSpPr txBox="1"/>
          <p:nvPr/>
        </p:nvSpPr>
        <p:spPr>
          <a:xfrm>
            <a:off x="548640" y="4069080"/>
            <a:ext cx="3520440" cy="457200"/>
          </a:xfrm>
          <a:prstGeom prst="rect">
            <a:avLst/>
          </a:prstGeom>
          <a:noFill/>
          <a:ln/>
        </p:spPr>
        <p:txBody>
          <a:bodyPr wrap="square" lIns="0" tIns="0" rIns="0" bIns="0" rtlCol="0" anchor="ctr"/>
          <a:lstStyle/>
          <a:p>
            <a:pPr algn="ctr" indent="0" marL="0">
              <a:buNone/>
            </a:pPr>
            <a:r>
              <a:rPr lang="en-US" sz="2200" b="1" dirty="0">
                <a:solidFill>
                  <a:schemeClr val="tx1"/>
                </a:solidFill>
              </a:rPr>
              <a:t>Use Cases</a:t>
            </a:r>
            <a:endParaRPr lang="en-US" sz="2200" dirty="0"/>
          </a:p>
        </p:txBody>
      </p:sp>
      <p:sp>
        <p:nvSpPr>
          <p:cNvPr id="9" name="Text 6"/>
          <p:cNvSpPr txBox="1"/>
          <p:nvPr/>
        </p:nvSpPr>
        <p:spPr>
          <a:xfrm>
            <a:off x="731520" y="4617720"/>
            <a:ext cx="3154680" cy="548640"/>
          </a:xfrm>
          <a:prstGeom prst="rect">
            <a:avLst/>
          </a:prstGeom>
          <a:noFill/>
          <a:ln/>
        </p:spPr>
        <p:txBody>
          <a:bodyPr wrap="square" lIns="0" tIns="0" rIns="0" bIns="0" rtlCol="0" anchor="t"/>
          <a:lstStyle/>
          <a:p>
            <a:pPr algn="ctr" indent="0" marL="0">
              <a:buNone/>
            </a:pPr>
            <a:r>
              <a:rPr lang="en-US" sz="1500" dirty="0">
                <a:solidFill>
                  <a:schemeClr val="tx2"/>
                </a:solidFill>
              </a:rPr>
              <a:t>5 Akteure · include / extend</a:t>
            </a:r>
            <a:endParaRPr lang="en-US" sz="1500" dirty="0"/>
          </a:p>
        </p:txBody>
      </p:sp>
      <p:sp>
        <p:nvSpPr>
          <p:cNvPr id="10" name="Shape 7"/>
          <p:cNvSpPr/>
          <p:nvPr/>
        </p:nvSpPr>
        <p:spPr>
          <a:xfrm>
            <a:off x="4425696" y="1828800"/>
            <a:ext cx="3520440" cy="3657600"/>
          </a:xfrm>
          <a:prstGeom prst="roundRect">
            <a:avLst>
              <a:gd name="adj" fmla="val 3117"/>
            </a:avLst>
          </a:prstGeom>
          <a:solidFill>
            <a:schemeClr val="bg2"/>
          </a:solidFill>
          <a:ln w="12700">
            <a:solidFill>
              <a:schemeClr val="bg2"/>
            </a:solidFill>
            <a:prstDash val="solid"/>
          </a:ln>
        </p:spPr>
      </p:sp>
      <p:sp>
        <p:nvSpPr>
          <p:cNvPr id="11" name="Shape 8"/>
          <p:cNvSpPr/>
          <p:nvPr/>
        </p:nvSpPr>
        <p:spPr>
          <a:xfrm>
            <a:off x="5774436" y="2148840"/>
            <a:ext cx="822960" cy="822960"/>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5996635" y="2371039"/>
            <a:ext cx="378562" cy="378562"/>
          </a:xfrm>
          <a:prstGeom prst="rect">
            <a:avLst/>
          </a:prstGeom>
        </p:spPr>
      </p:pic>
      <p:sp>
        <p:nvSpPr>
          <p:cNvPr id="13" name="Text 9"/>
          <p:cNvSpPr txBox="1"/>
          <p:nvPr/>
        </p:nvSpPr>
        <p:spPr>
          <a:xfrm>
            <a:off x="4425696" y="3108960"/>
            <a:ext cx="3520440" cy="914400"/>
          </a:xfrm>
          <a:prstGeom prst="rect">
            <a:avLst/>
          </a:prstGeom>
          <a:noFill/>
          <a:ln/>
        </p:spPr>
        <p:txBody>
          <a:bodyPr wrap="square" lIns="0" tIns="0" rIns="0" bIns="0" rtlCol="0" anchor="ctr"/>
          <a:lstStyle/>
          <a:p>
            <a:pPr algn="ctr" indent="0" marL="0">
              <a:buNone/>
            </a:pPr>
            <a:r>
              <a:rPr lang="en-US" sz="6000" b="1" dirty="0">
                <a:solidFill>
                  <a:schemeClr val="accent1"/>
                </a:solidFill>
              </a:rPr>
              <a:t>18</a:t>
            </a:r>
            <a:endParaRPr lang="en-US" sz="6000" dirty="0"/>
          </a:p>
        </p:txBody>
      </p:sp>
      <p:sp>
        <p:nvSpPr>
          <p:cNvPr id="14" name="Text 10"/>
          <p:cNvSpPr txBox="1"/>
          <p:nvPr/>
        </p:nvSpPr>
        <p:spPr>
          <a:xfrm>
            <a:off x="4425696" y="4069080"/>
            <a:ext cx="3520440" cy="457200"/>
          </a:xfrm>
          <a:prstGeom prst="rect">
            <a:avLst/>
          </a:prstGeom>
          <a:noFill/>
          <a:ln/>
        </p:spPr>
        <p:txBody>
          <a:bodyPr wrap="square" lIns="0" tIns="0" rIns="0" bIns="0" rtlCol="0" anchor="ctr"/>
          <a:lstStyle/>
          <a:p>
            <a:pPr algn="ctr" indent="0" marL="0">
              <a:buNone/>
            </a:pPr>
            <a:r>
              <a:rPr lang="en-US" sz="2200" b="1" dirty="0">
                <a:solidFill>
                  <a:schemeClr val="tx1"/>
                </a:solidFill>
              </a:rPr>
              <a:t>Klassen</a:t>
            </a:r>
            <a:endParaRPr lang="en-US" sz="2200" dirty="0"/>
          </a:p>
        </p:txBody>
      </p:sp>
      <p:sp>
        <p:nvSpPr>
          <p:cNvPr id="15" name="Text 11"/>
          <p:cNvSpPr txBox="1"/>
          <p:nvPr/>
        </p:nvSpPr>
        <p:spPr>
          <a:xfrm>
            <a:off x="4608576" y="4617720"/>
            <a:ext cx="3154680" cy="548640"/>
          </a:xfrm>
          <a:prstGeom prst="rect">
            <a:avLst/>
          </a:prstGeom>
          <a:noFill/>
          <a:ln/>
        </p:spPr>
        <p:txBody>
          <a:bodyPr wrap="square" lIns="0" tIns="0" rIns="0" bIns="0" rtlCol="0" anchor="t"/>
          <a:lstStyle/>
          <a:p>
            <a:pPr algn="ctr" indent="0" marL="0">
              <a:buNone/>
            </a:pPr>
            <a:r>
              <a:rPr lang="en-US" sz="1500" dirty="0">
                <a:solidFill>
                  <a:schemeClr val="tx2"/>
                </a:solidFill>
              </a:rPr>
              <a:t>Steuerungsklasse + Repositories</a:t>
            </a:r>
            <a:endParaRPr lang="en-US" sz="1500" dirty="0"/>
          </a:p>
        </p:txBody>
      </p:sp>
      <p:sp>
        <p:nvSpPr>
          <p:cNvPr id="16" name="Shape 12"/>
          <p:cNvSpPr/>
          <p:nvPr/>
        </p:nvSpPr>
        <p:spPr>
          <a:xfrm>
            <a:off x="8302752" y="1828800"/>
            <a:ext cx="3520440" cy="3657600"/>
          </a:xfrm>
          <a:prstGeom prst="roundRect">
            <a:avLst>
              <a:gd name="adj" fmla="val 3117"/>
            </a:avLst>
          </a:prstGeom>
          <a:solidFill>
            <a:schemeClr val="bg2"/>
          </a:solidFill>
          <a:ln w="12700">
            <a:solidFill>
              <a:schemeClr val="bg2"/>
            </a:solidFill>
            <a:prstDash val="solid"/>
          </a:ln>
        </p:spPr>
      </p:sp>
      <p:sp>
        <p:nvSpPr>
          <p:cNvPr id="17" name="Shape 13"/>
          <p:cNvSpPr/>
          <p:nvPr/>
        </p:nvSpPr>
        <p:spPr>
          <a:xfrm>
            <a:off x="9651492" y="2148840"/>
            <a:ext cx="822960" cy="822960"/>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9873691" y="2371039"/>
            <a:ext cx="378562" cy="378562"/>
          </a:xfrm>
          <a:prstGeom prst="rect">
            <a:avLst/>
          </a:prstGeom>
        </p:spPr>
      </p:pic>
      <p:sp>
        <p:nvSpPr>
          <p:cNvPr id="19" name="Text 14"/>
          <p:cNvSpPr txBox="1"/>
          <p:nvPr/>
        </p:nvSpPr>
        <p:spPr>
          <a:xfrm>
            <a:off x="8302752" y="3108960"/>
            <a:ext cx="3520440" cy="914400"/>
          </a:xfrm>
          <a:prstGeom prst="rect">
            <a:avLst/>
          </a:prstGeom>
          <a:noFill/>
          <a:ln/>
        </p:spPr>
        <p:txBody>
          <a:bodyPr wrap="square" lIns="0" tIns="0" rIns="0" bIns="0" rtlCol="0" anchor="ctr"/>
          <a:lstStyle/>
          <a:p>
            <a:pPr algn="ctr" indent="0" marL="0">
              <a:buNone/>
            </a:pPr>
            <a:r>
              <a:rPr lang="en-US" sz="6000" b="1" dirty="0">
                <a:solidFill>
                  <a:schemeClr val="accent1"/>
                </a:solidFill>
              </a:rPr>
              <a:t>5</a:t>
            </a:r>
            <a:endParaRPr lang="en-US" sz="6000" dirty="0"/>
          </a:p>
        </p:txBody>
      </p:sp>
      <p:sp>
        <p:nvSpPr>
          <p:cNvPr id="20" name="Text 15"/>
          <p:cNvSpPr txBox="1"/>
          <p:nvPr/>
        </p:nvSpPr>
        <p:spPr>
          <a:xfrm>
            <a:off x="8302752" y="4069080"/>
            <a:ext cx="3520440" cy="457200"/>
          </a:xfrm>
          <a:prstGeom prst="rect">
            <a:avLst/>
          </a:prstGeom>
          <a:noFill/>
          <a:ln/>
        </p:spPr>
        <p:txBody>
          <a:bodyPr wrap="square" lIns="0" tIns="0" rIns="0" bIns="0" rtlCol="0" anchor="ctr"/>
          <a:lstStyle/>
          <a:p>
            <a:pPr algn="ctr" indent="0" marL="0">
              <a:buNone/>
            </a:pPr>
            <a:r>
              <a:rPr lang="en-US" sz="2200" b="1" dirty="0">
                <a:solidFill>
                  <a:schemeClr val="tx1"/>
                </a:solidFill>
              </a:rPr>
              <a:t>Sequenzdiagramme</a:t>
            </a:r>
            <a:endParaRPr lang="en-US" sz="2200" dirty="0"/>
          </a:p>
        </p:txBody>
      </p:sp>
      <p:sp>
        <p:nvSpPr>
          <p:cNvPr id="21" name="Text 16"/>
          <p:cNvSpPr txBox="1"/>
          <p:nvPr/>
        </p:nvSpPr>
        <p:spPr>
          <a:xfrm>
            <a:off x="8485632" y="4617720"/>
            <a:ext cx="3154680" cy="548640"/>
          </a:xfrm>
          <a:prstGeom prst="rect">
            <a:avLst/>
          </a:prstGeom>
          <a:noFill/>
          <a:ln/>
        </p:spPr>
        <p:txBody>
          <a:bodyPr wrap="square" lIns="0" tIns="0" rIns="0" bIns="0" rtlCol="0" anchor="t"/>
          <a:lstStyle/>
          <a:p>
            <a:pPr algn="ctr" indent="0" marL="0">
              <a:buNone/>
            </a:pPr>
            <a:r>
              <a:rPr lang="en-US" sz="1500" dirty="0">
                <a:solidFill>
                  <a:schemeClr val="tx2"/>
                </a:solidFill>
              </a:rPr>
              <a:t>Je eine pro User Story</a:t>
            </a:r>
            <a:endParaRPr lang="en-US" sz="1500" dirty="0"/>
          </a:p>
        </p:txBody>
      </p:sp>
      <p:sp>
        <p:nvSpPr>
          <p:cNvPr id="22" name="Text 17"/>
          <p:cNvSpPr txBox="1"/>
          <p:nvPr/>
        </p:nvSpPr>
        <p:spPr>
          <a:xfrm>
            <a:off x="548640" y="5760720"/>
            <a:ext cx="9144000" cy="365760"/>
          </a:xfrm>
          <a:prstGeom prst="rect">
            <a:avLst/>
          </a:prstGeom>
          <a:noFill/>
          <a:ln/>
        </p:spPr>
        <p:txBody>
          <a:bodyPr wrap="square" lIns="0" tIns="0" rIns="0" bIns="0" rtlCol="0" anchor="ctr"/>
          <a:lstStyle/>
          <a:p>
            <a:pPr indent="0" marL="0">
              <a:buNone/>
            </a:pPr>
            <a:r>
              <a:rPr lang="en-US" sz="1500" dirty="0">
                <a:solidFill>
                  <a:schemeClr val="tx2"/>
                </a:solidFill>
              </a:rPr>
              <a:t>Werkzeuge: Visual Paradigm · draw.io · Camunda</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548640" y="365760"/>
            <a:ext cx="9144000" cy="320040"/>
          </a:xfrm>
          <a:prstGeom prst="rect">
            <a:avLst/>
          </a:prstGeom>
          <a:noFill/>
          <a:ln/>
        </p:spPr>
        <p:txBody>
          <a:bodyPr wrap="square" lIns="0" tIns="0" rIns="0" bIns="0" rtlCol="0" anchor="ctr"/>
          <a:lstStyle/>
          <a:p>
            <a:pPr indent="0" marL="0">
              <a:buNone/>
            </a:pPr>
            <a:r>
              <a:rPr lang="en-US" sz="1400" b="1" dirty="0">
                <a:solidFill>
                  <a:schemeClr val="accent1"/>
                </a:solidFill>
              </a:rPr>
              <a:t>07  ·  Fazit &amp; Ausblick</a:t>
            </a:r>
            <a:endParaRPr lang="en-US" sz="1400" dirty="0"/>
          </a:p>
        </p:txBody>
      </p:sp>
      <p:sp>
        <p:nvSpPr>
          <p:cNvPr id="3" name="Text 0"/>
          <p:cNvSpPr/>
          <p:nvPr>
            <p:ph idx="102" type="title" hasCustomPrompt="1"/>
          </p:nvPr>
        </p:nvSpPr>
        <p:spPr>
          <a:xfrm>
            <a:off x="548640" y="713232"/>
            <a:ext cx="9875520" cy="685800"/>
          </a:xfrm>
          <a:prstGeom prst="rect">
            <a:avLst/>
          </a:prstGeom>
          <a:noFill/>
          <a:ln/>
        </p:spPr>
        <p:txBody>
          <a:bodyPr wrap="square" lIns="0" tIns="0" rIns="0" bIns="0" rtlCol="0" anchor="ctr"/>
          <a:lstStyle/>
          <a:p>
            <a:pPr algn="l" indent="0" marL="0">
              <a:buNone/>
            </a:pPr>
            <a:r>
              <a:rPr lang="en-US" sz="3400" b="1" dirty="0">
                <a:solidFill>
                  <a:schemeClr val="tx1"/>
                </a:solidFill>
              </a:rPr>
              <a:t>Fazit &amp; Ausblick</a:t>
            </a:r>
            <a:endParaRPr lang="en-US" sz="3400" dirty="0"/>
          </a:p>
        </p:txBody>
      </p:sp>
      <p:sp>
        <p:nvSpPr>
          <p:cNvPr id="4" name="Shape 2"/>
          <p:cNvSpPr/>
          <p:nvPr/>
        </p:nvSpPr>
        <p:spPr>
          <a:xfrm>
            <a:off x="548640" y="1783080"/>
            <a:ext cx="5349240" cy="3108960"/>
          </a:xfrm>
          <a:prstGeom prst="roundRect">
            <a:avLst>
              <a:gd name="adj" fmla="val 3529"/>
            </a:avLst>
          </a:prstGeom>
          <a:solidFill>
            <a:schemeClr val="bg2"/>
          </a:solidFill>
          <a:ln w="12700">
            <a:solidFill>
              <a:schemeClr val="bg2"/>
            </a:solidFill>
            <a:prstDash val="solid"/>
          </a:ln>
        </p:spPr>
      </p:sp>
      <p:sp>
        <p:nvSpPr>
          <p:cNvPr id="5" name="Shape 3"/>
          <p:cNvSpPr/>
          <p:nvPr/>
        </p:nvSpPr>
        <p:spPr>
          <a:xfrm>
            <a:off x="868680" y="205740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66190" y="2254910"/>
            <a:ext cx="336499" cy="336499"/>
          </a:xfrm>
          <a:prstGeom prst="rect">
            <a:avLst/>
          </a:prstGeom>
        </p:spPr>
      </p:pic>
      <p:sp>
        <p:nvSpPr>
          <p:cNvPr id="7" name="Text 4"/>
          <p:cNvSpPr txBox="1"/>
          <p:nvPr/>
        </p:nvSpPr>
        <p:spPr>
          <a:xfrm>
            <a:off x="1783080" y="2057400"/>
            <a:ext cx="3657600" cy="731520"/>
          </a:xfrm>
          <a:prstGeom prst="rect">
            <a:avLst/>
          </a:prstGeom>
          <a:noFill/>
          <a:ln/>
        </p:spPr>
        <p:txBody>
          <a:bodyPr wrap="square" lIns="0" tIns="0" rIns="0" bIns="0" rtlCol="0" anchor="ctr"/>
          <a:lstStyle/>
          <a:p>
            <a:pPr indent="0" marL="0">
              <a:buNone/>
            </a:pPr>
            <a:r>
              <a:rPr lang="en-US" sz="2400" b="1" dirty="0">
                <a:solidFill>
                  <a:schemeClr val="tx1"/>
                </a:solidFill>
              </a:rPr>
              <a:t>Erreicht</a:t>
            </a:r>
            <a:endParaRPr lang="en-US" sz="2400" dirty="0"/>
          </a:p>
        </p:txBody>
      </p:sp>
      <p:sp>
        <p:nvSpPr>
          <p:cNvPr id="8" name="Text 5"/>
          <p:cNvSpPr txBox="1"/>
          <p:nvPr/>
        </p:nvSpPr>
        <p:spPr>
          <a:xfrm>
            <a:off x="960120" y="2971800"/>
            <a:ext cx="4617720" cy="173736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chemeClr val="tx1"/>
                </a:solidFill>
              </a:rPr>
              <a:t>10 BPMN-Prozesse modelliert</a:t>
            </a:r>
            <a:endParaRPr lang="en-US" sz="1800" dirty="0"/>
          </a:p>
          <a:p>
            <a:pPr marL="228600" indent="-228600">
              <a:spcAft>
                <a:spcPts val="600"/>
              </a:spcAft>
              <a:buSzPct val="100000"/>
              <a:buChar char="•"/>
            </a:pPr>
            <a:r>
              <a:rPr lang="en-US" sz="1800" dirty="0">
                <a:solidFill>
                  <a:schemeClr val="tx1"/>
                </a:solidFill>
              </a:rPr>
              <a:t>Vollständige UML-Modellierung</a:t>
            </a:r>
            <a:endParaRPr lang="en-US" sz="1800" dirty="0"/>
          </a:p>
          <a:p>
            <a:pPr marL="228600" indent="-228600">
              <a:spcAft>
                <a:spcPts val="600"/>
              </a:spcAft>
              <a:buSzPct val="100000"/>
              <a:buChar char="•"/>
            </a:pPr>
            <a:r>
              <a:rPr lang="en-US" sz="1800" dirty="0">
                <a:solidFill>
                  <a:schemeClr val="tx1"/>
                </a:solidFill>
              </a:rPr>
              <a:t>Konsistente, syntaxkonforme Diagramme</a:t>
            </a:r>
            <a:endParaRPr lang="en-US" sz="1800" dirty="0"/>
          </a:p>
          <a:p>
            <a:pPr marL="228600" indent="-228600">
              <a:spcAft>
                <a:spcPts val="600"/>
              </a:spcAft>
              <a:buSzPct val="100000"/>
              <a:buChar char="•"/>
            </a:pPr>
            <a:r>
              <a:rPr lang="en-US" sz="1800" dirty="0">
                <a:solidFill>
                  <a:schemeClr val="tx1"/>
                </a:solidFill>
              </a:rPr>
              <a:t>Klares Produkt mit Geschäftsmodell</a:t>
            </a:r>
            <a:endParaRPr lang="en-US" sz="1800" dirty="0"/>
          </a:p>
        </p:txBody>
      </p:sp>
      <p:sp>
        <p:nvSpPr>
          <p:cNvPr id="9" name="Shape 6"/>
          <p:cNvSpPr/>
          <p:nvPr/>
        </p:nvSpPr>
        <p:spPr>
          <a:xfrm>
            <a:off x="6291072" y="1783080"/>
            <a:ext cx="5349240" cy="3108960"/>
          </a:xfrm>
          <a:prstGeom prst="roundRect">
            <a:avLst>
              <a:gd name="adj" fmla="val 3529"/>
            </a:avLst>
          </a:prstGeom>
          <a:solidFill>
            <a:schemeClr val="accent2"/>
          </a:solidFill>
          <a:ln w="12700">
            <a:solidFill>
              <a:schemeClr val="accent2"/>
            </a:solidFill>
            <a:prstDash val="solid"/>
          </a:ln>
        </p:spPr>
      </p:sp>
      <p:sp>
        <p:nvSpPr>
          <p:cNvPr id="10" name="Shape 7"/>
          <p:cNvSpPr/>
          <p:nvPr/>
        </p:nvSpPr>
        <p:spPr>
          <a:xfrm>
            <a:off x="6611112" y="2057400"/>
            <a:ext cx="731520" cy="731520"/>
          </a:xfrm>
          <a:prstGeom prst="ellipse">
            <a:avLst/>
          </a:prstGeom>
          <a:solidFill>
            <a:schemeClr val="tx1"/>
          </a:solidFill>
          <a:ln w="12700">
            <a:solidFill>
              <a:schemeClr val="tx1"/>
            </a:solidFill>
            <a:prstDash val="solid"/>
          </a:ln>
        </p:spPr>
      </p:sp>
      <p:pic>
        <p:nvPicPr>
          <p:cNvPr id="11" name="Image 1" descr="preencoded.png">    </p:cNvPr>
          <p:cNvPicPr>
            <a:picLocks noChangeAspect="1"/>
          </p:cNvPicPr>
          <p:nvPr/>
        </p:nvPicPr>
        <p:blipFill>
          <a:blip r:embed="rId2"/>
          <a:stretch>
            <a:fillRect/>
          </a:stretch>
        </p:blipFill>
        <p:spPr>
          <a:xfrm>
            <a:off x="6808622" y="2254910"/>
            <a:ext cx="336499" cy="336499"/>
          </a:xfrm>
          <a:prstGeom prst="rect">
            <a:avLst/>
          </a:prstGeom>
        </p:spPr>
      </p:pic>
      <p:sp>
        <p:nvSpPr>
          <p:cNvPr id="12" name="Text 8"/>
          <p:cNvSpPr txBox="1"/>
          <p:nvPr/>
        </p:nvSpPr>
        <p:spPr>
          <a:xfrm>
            <a:off x="7525512" y="2057400"/>
            <a:ext cx="3657600" cy="731520"/>
          </a:xfrm>
          <a:prstGeom prst="rect">
            <a:avLst/>
          </a:prstGeom>
          <a:noFill/>
          <a:ln/>
        </p:spPr>
        <p:txBody>
          <a:bodyPr wrap="square" lIns="0" tIns="0" rIns="0" bIns="0" rtlCol="0" anchor="ctr"/>
          <a:lstStyle/>
          <a:p>
            <a:pPr indent="0" marL="0">
              <a:buNone/>
            </a:pPr>
            <a:r>
              <a:rPr lang="en-US" sz="2400" b="1" dirty="0">
                <a:solidFill>
                  <a:schemeClr val="tx1"/>
                </a:solidFill>
              </a:rPr>
              <a:t>Ausblick</a:t>
            </a:r>
            <a:endParaRPr lang="en-US" sz="2400" dirty="0"/>
          </a:p>
        </p:txBody>
      </p:sp>
      <p:sp>
        <p:nvSpPr>
          <p:cNvPr id="13" name="Text 9"/>
          <p:cNvSpPr txBox="1"/>
          <p:nvPr/>
        </p:nvSpPr>
        <p:spPr>
          <a:xfrm>
            <a:off x="6702552" y="2971800"/>
            <a:ext cx="4617720" cy="1737360"/>
          </a:xfrm>
          <a:prstGeom prst="rect">
            <a:avLst/>
          </a:prstGeom>
          <a:noFill/>
          <a:ln/>
        </p:spPr>
        <p:txBody>
          <a:bodyPr wrap="square" lIns="0" tIns="0" rIns="0" bIns="0" rtlCol="0" anchor="t"/>
          <a:lstStyle/>
          <a:p>
            <a:pPr marL="228600" indent="-228600">
              <a:spcAft>
                <a:spcPts val="600"/>
              </a:spcAft>
              <a:buSzPct val="100000"/>
              <a:buChar char="•"/>
            </a:pPr>
            <a:r>
              <a:rPr lang="en-US" sz="1800" dirty="0">
                <a:solidFill>
                  <a:schemeClr val="tx1"/>
                </a:solidFill>
              </a:rPr>
              <a:t>Prototyp-Entwicklung</a:t>
            </a:r>
            <a:endParaRPr lang="en-US" sz="1800" dirty="0"/>
          </a:p>
          <a:p>
            <a:pPr marL="228600" indent="-228600">
              <a:spcAft>
                <a:spcPts val="600"/>
              </a:spcAft>
              <a:buSzPct val="100000"/>
              <a:buChar char="•"/>
            </a:pPr>
            <a:r>
              <a:rPr lang="en-US" sz="1800" dirty="0">
                <a:solidFill>
                  <a:schemeClr val="tx1"/>
                </a:solidFill>
              </a:rPr>
              <a:t>Anbindung an Praxisverwaltungssysteme</a:t>
            </a:r>
            <a:endParaRPr lang="en-US" sz="1800" dirty="0"/>
          </a:p>
          <a:p>
            <a:pPr marL="228600" indent="-228600">
              <a:spcAft>
                <a:spcPts val="600"/>
              </a:spcAft>
              <a:buSzPct val="100000"/>
              <a:buChar char="•"/>
            </a:pPr>
            <a:r>
              <a:rPr lang="en-US" sz="1800" dirty="0">
                <a:solidFill>
                  <a:schemeClr val="tx1"/>
                </a:solidFill>
              </a:rPr>
              <a:t>KI-gestützte Terminoptimierung</a:t>
            </a:r>
            <a:endParaRPr lang="en-US" sz="1800" dirty="0"/>
          </a:p>
          <a:p>
            <a:pPr marL="228600" indent="-228600">
              <a:spcAft>
                <a:spcPts val="600"/>
              </a:spcAft>
              <a:buSzPct val="100000"/>
              <a:buChar char="•"/>
            </a:pPr>
            <a:r>
              <a:rPr lang="en-US" sz="1800" dirty="0">
                <a:solidFill>
                  <a:schemeClr val="tx1"/>
                </a:solidFill>
              </a:rPr>
              <a:t>Pilotprojekt mit echter Praxis</a:t>
            </a:r>
            <a:endParaRPr lang="en-US" sz="1800" dirty="0"/>
          </a:p>
        </p:txBody>
      </p:sp>
      <p:sp>
        <p:nvSpPr>
          <p:cNvPr id="14" name="Text 10"/>
          <p:cNvSpPr txBox="1"/>
          <p:nvPr/>
        </p:nvSpPr>
        <p:spPr>
          <a:xfrm>
            <a:off x="548640" y="5212080"/>
            <a:ext cx="11094415" cy="640080"/>
          </a:xfrm>
          <a:prstGeom prst="rect">
            <a:avLst/>
          </a:prstGeom>
          <a:noFill/>
          <a:ln/>
        </p:spPr>
        <p:txBody>
          <a:bodyPr wrap="square" lIns="0" tIns="0" rIns="0" bIns="0" rtlCol="0" anchor="ctr"/>
          <a:lstStyle/>
          <a:p>
            <a:pPr algn="ctr" indent="0" marL="0">
              <a:buNone/>
            </a:pPr>
            <a:r>
              <a:rPr lang="en-US" sz="2200" i="1" dirty="0">
                <a:solidFill>
                  <a:schemeClr val="accent1"/>
                </a:solidFill>
              </a:rPr>
              <a:t>„Methodengestützte Analyse schafft Klarheit – im Modell und im Team.“</a:t>
            </a:r>
            <a:endParaRPr lang="en-US" sz="2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98568" y="822960"/>
            <a:ext cx="2194560" cy="2194560"/>
          </a:xfrm>
          <a:prstGeom prst="roundRect">
            <a:avLst>
              <a:gd name="adj" fmla="val 8333"/>
            </a:avLst>
          </a:prstGeom>
          <a:solidFill>
            <a:schemeClr val="bg1"/>
          </a:solidFill>
          <a:ln w="12700">
            <a:solidFill>
              <a:schemeClr val="bg1"/>
            </a:solidFill>
            <a:prstDash val="solid"/>
          </a:ln>
        </p:spPr>
      </p:sp>
      <p:pic>
        <p:nvPicPr>
          <p:cNvPr id="3" name="Image 0" descr="/private/tmp/claude-501/-Users-helenstark-Documents-Lernzettel-WebProgrammierung/d4309317-c575-44fe-a25d-9aac008a91a2/scratchpad/un/ppt/media/image-1-1.png">    </p:cNvPr>
          <p:cNvPicPr>
            <a:picLocks noChangeAspect="1"/>
          </p:cNvPicPr>
          <p:nvPr/>
        </p:nvPicPr>
        <p:blipFill>
          <a:blip r:embed="rId1"/>
          <a:stretch>
            <a:fillRect/>
          </a:stretch>
        </p:blipFill>
        <p:spPr>
          <a:xfrm>
            <a:off x="5090008" y="914400"/>
            <a:ext cx="2011680" cy="2011680"/>
          </a:xfrm>
          <a:prstGeom prst="rect">
            <a:avLst/>
          </a:prstGeom>
        </p:spPr>
      </p:pic>
      <p:sp>
        <p:nvSpPr>
          <p:cNvPr id="4" name="Text 1"/>
          <p:cNvSpPr txBox="1"/>
          <p:nvPr/>
        </p:nvSpPr>
        <p:spPr>
          <a:xfrm>
            <a:off x="548640" y="3429000"/>
            <a:ext cx="11094415" cy="822960"/>
          </a:xfrm>
          <a:prstGeom prst="rect">
            <a:avLst/>
          </a:prstGeom>
          <a:noFill/>
          <a:ln/>
        </p:spPr>
        <p:txBody>
          <a:bodyPr wrap="square" lIns="0" tIns="0" rIns="0" bIns="0" rtlCol="0" anchor="ctr"/>
          <a:lstStyle/>
          <a:p>
            <a:pPr algn="ctr" indent="0" marL="0">
              <a:buNone/>
            </a:pPr>
            <a:r>
              <a:rPr lang="en-US" sz="4200" b="1" dirty="0">
                <a:solidFill>
                  <a:schemeClr val="bg1"/>
                </a:solidFill>
              </a:rPr>
              <a:t>Vielen Dank für Ihre Aufmerksamkeit!</a:t>
            </a:r>
            <a:endParaRPr lang="en-US" sz="4200" dirty="0"/>
          </a:p>
        </p:txBody>
      </p:sp>
      <p:sp>
        <p:nvSpPr>
          <p:cNvPr id="5" name="Text 2"/>
          <p:cNvSpPr txBox="1"/>
          <p:nvPr/>
        </p:nvSpPr>
        <p:spPr>
          <a:xfrm>
            <a:off x="548640" y="4297680"/>
            <a:ext cx="11094415" cy="548640"/>
          </a:xfrm>
          <a:prstGeom prst="rect">
            <a:avLst/>
          </a:prstGeom>
          <a:noFill/>
          <a:ln/>
        </p:spPr>
        <p:txBody>
          <a:bodyPr wrap="square" lIns="0" tIns="0" rIns="0" bIns="0" rtlCol="0" anchor="ctr"/>
          <a:lstStyle/>
          <a:p>
            <a:pPr algn="ctr" indent="0" marL="0">
              <a:buNone/>
            </a:pPr>
            <a:r>
              <a:rPr lang="en-US" sz="2600" dirty="0">
                <a:solidFill>
                  <a:schemeClr val="accent1"/>
                </a:solidFill>
              </a:rPr>
              <a:t>Fragen &amp; Diskussion</a:t>
            </a:r>
            <a:endParaRPr lang="en-US" sz="2600" dirty="0"/>
          </a:p>
        </p:txBody>
      </p:sp>
      <p:sp>
        <p:nvSpPr>
          <p:cNvPr id="6" name="Text 3"/>
          <p:cNvSpPr txBox="1"/>
          <p:nvPr/>
        </p:nvSpPr>
        <p:spPr>
          <a:xfrm>
            <a:off x="548640" y="5760720"/>
            <a:ext cx="11094415" cy="457200"/>
          </a:xfrm>
          <a:prstGeom prst="rect">
            <a:avLst/>
          </a:prstGeom>
          <a:noFill/>
          <a:ln/>
        </p:spPr>
        <p:txBody>
          <a:bodyPr wrap="square" lIns="0" tIns="0" rIns="0" bIns="0" rtlCol="0" anchor="ctr"/>
          <a:lstStyle/>
          <a:p>
            <a:pPr algn="ctr" indent="0" marL="0">
              <a:buNone/>
            </a:pPr>
            <a:r>
              <a:rPr lang="en-US" sz="1800" dirty="0">
                <a:solidFill>
                  <a:srgbClr val="B2BEC3"/>
                </a:solidFill>
              </a:rPr>
              <a:t>Fabian · Lennart · Thilo · Helen · Luca · Niharini</a:t>
            </a:r>
            <a:endParaRPr lang="en-US" sz="1800" dirty="0"/>
          </a:p>
        </p:txBody>
      </p:sp>
    </p:spTree>
  </p:cSld>
  <p:clrMapOvr>
    <a:masterClrMapping/>
  </p:clrMapOvr>
</p:sld>
</file>

<file path=ppt/theme/theme1.xml><?xml version="1.0" encoding="utf-8"?>
<a:theme xmlns:a="http://schemas.openxmlformats.org/drawingml/2006/main" name="AutoMedic">
  <a:themeElements>
    <a:clrScheme name="AutoMedic">
      <a:dk1>
        <a:srgbClr val="2D3436"/>
      </a:dk1>
      <a:lt1>
        <a:srgbClr val="FFFFFF"/>
      </a:lt1>
      <a:dk2>
        <a:srgbClr val="636E72"/>
      </a:dk2>
      <a:lt2>
        <a:srgbClr val="F5F6FA"/>
      </a:lt2>
      <a:accent1>
        <a:srgbClr val="00B894"/>
      </a:accent1>
      <a:accent2>
        <a:srgbClr val="E8F8F5"/>
      </a:accent2>
      <a:accent3>
        <a:srgbClr val="E74C3C"/>
      </a:accent3>
      <a:accent4>
        <a:srgbClr val="F0A830"/>
      </a:accent4>
      <a:accent5>
        <a:srgbClr val="DFE6E9"/>
      </a:accent5>
      <a:accent6>
        <a:srgbClr val="0984E3"/>
      </a:accent6>
      <a:hlink>
        <a:srgbClr val="00B894"/>
      </a:hlink>
      <a:folHlink>
        <a:srgbClr val="636E72"/>
      </a:folHlink>
    </a:clrScheme>
    <a:fontScheme name="AutoMed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AutoMedic</dc:title>
  <dc:subject>PptxGenJS Presentation</dc:subject>
  <dc:creator>AutoMedic-Team</dc:creator>
  <cp:lastModifiedBy>AutoMedic-Team</cp:lastModifiedBy>
  <cp:revision>1</cp:revision>
  <dcterms:created xsi:type="dcterms:W3CDTF">2026-10-23T08:36:54Z</dcterms:created>
  <dcterms:modified xsi:type="dcterms:W3CDTF">2026-10-23T08:36:54Z</dcterms:modified>
</cp:coreProperties>
</file>